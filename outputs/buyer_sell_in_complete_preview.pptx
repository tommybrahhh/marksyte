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embeddedFontLst>
    <p:embeddedFont>
      <p:font typeface="Sakkal Majalla" panose="02000000000000000000" pitchFamily="2" charset="-78"/>
      <p:regular r:id="rId15"/>
      <p:bold r:id="rId16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A27B"/>
    <a:srgbClr val="7758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s-ES" dirty="0"/>
              <a:t>Gross Sales</a:t>
            </a:r>
            <a:r>
              <a:rPr lang="es-ES" baseline="0" dirty="0"/>
              <a:t> &amp; Gross Profit </a:t>
            </a:r>
            <a:r>
              <a:rPr lang="es-ES" baseline="0" dirty="0" err="1"/>
              <a:t>Comparison</a:t>
            </a:r>
            <a:endParaRPr lang="es-ES" dirty="0"/>
          </a:p>
        </c:rich>
      </c:tx>
      <c:layout>
        <c:manualLayout>
          <c:xMode val="edge"/>
          <c:yMode val="edge"/>
          <c:x val="6.2218907422731298E-2"/>
          <c:y val="2.5275755735656904E-2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sales</c:v>
                </c:pt>
              </c:strCache>
            </c:strRef>
          </c:tx>
          <c:spPr>
            <a:solidFill>
              <a:srgbClr val="C4A27B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Classic</c:v>
                </c:pt>
                <c:pt idx="1">
                  <c:v>Blood Orange</c:v>
                </c:pt>
                <c:pt idx="2">
                  <c:v>Light 5%</c:v>
                </c:pt>
                <c:pt idx="3">
                  <c:v>Travel 4-pack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1</c:v>
                </c:pt>
                <c:pt idx="1">
                  <c:v>0.7</c:v>
                </c:pt>
                <c:pt idx="2">
                  <c:v>0.6</c:v>
                </c:pt>
                <c:pt idx="3">
                  <c:v>1.4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005ABB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A53-4748-8DD7-144F18DDD7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775835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Classic</c:v>
                </c:pt>
                <c:pt idx="1">
                  <c:v>Blood Orange</c:v>
                </c:pt>
                <c:pt idx="2">
                  <c:v>Light 5%</c:v>
                </c:pt>
                <c:pt idx="3">
                  <c:v>Travel 4-pack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0.4</c:v>
                </c:pt>
                <c:pt idx="1">
                  <c:v>0.2</c:v>
                </c:pt>
                <c:pt idx="2">
                  <c:v>0.2</c:v>
                </c:pt>
                <c:pt idx="3">
                  <c:v>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4A27B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A53-4748-8DD7-144F18DDD7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6"/>
        <c:axId val="1785928255"/>
        <c:axId val="1769229823"/>
      </c:bar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mpd="sng">
            <a:solidFill>
              <a:schemeClr val="tx1"/>
            </a:solidFill>
          </a:ln>
        </c:spPr>
        <c:txPr>
          <a:bodyPr rot="-60000000" vert="horz"/>
          <a:lstStyle/>
          <a:p>
            <a:pPr>
              <a:defRPr sz="1600"/>
            </a:pPr>
            <a:endParaRPr lang="es-E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2"/>
          <c:min val="0"/>
        </c:scaling>
        <c:delete val="1"/>
        <c:axPos val="l"/>
        <c:numFmt formatCode="0.0" sourceLinked="1"/>
        <c:majorTickMark val="none"/>
        <c:minorTickMark val="none"/>
        <c:tickLblPos val="nextTo"/>
        <c:crossAx val="1785928255"/>
        <c:crosses val="autoZero"/>
        <c:crossBetween val="between"/>
        <c:majorUnit val="0.5"/>
      </c:valAx>
      <c:spPr>
        <a:noFill/>
        <a:ln>
          <a:noFill/>
        </a:ln>
      </c:spPr>
    </c:plotArea>
    <c:legend>
      <c:legendPos val="t"/>
      <c:layout>
        <c:manualLayout>
          <c:xMode val="edge"/>
          <c:yMode val="edge"/>
          <c:x val="0.58287804936447052"/>
          <c:y val="3.2499556701634742E-2"/>
          <c:w val="0.33176846567900986"/>
          <c:h val="5.0059925430553563E-2"/>
        </c:manualLayout>
      </c:layout>
      <c:overlay val="0"/>
      <c:spPr>
        <a:noFill/>
      </c:spPr>
      <c:txPr>
        <a:bodyPr rot="0" vert="horz"/>
        <a:lstStyle/>
        <a:p>
          <a:pPr>
            <a:defRPr/>
          </a:pPr>
          <a:endParaRPr lang="es-ES"/>
        </a:p>
      </c:txPr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sz="1400">
          <a:latin typeface="Sakkal Majalla" panose="02000000000000000000" pitchFamily="2" charset="-78"/>
          <a:cs typeface="Sakkal Majalla" panose="02000000000000000000" pitchFamily="2" charset="-78"/>
        </a:defRPr>
      </a:pPr>
      <a:endParaRPr lang="es-E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s-ES" dirty="0"/>
              <a:t>Target vs Actual </a:t>
            </a:r>
            <a:r>
              <a:rPr lang="es-ES" dirty="0" err="1"/>
              <a:t>Conversion</a:t>
            </a:r>
            <a:r>
              <a:rPr lang="es-ES" dirty="0"/>
              <a:t> </a:t>
            </a:r>
          </a:p>
        </c:rich>
      </c:tx>
      <c:layout>
        <c:manualLayout>
          <c:xMode val="edge"/>
          <c:yMode val="edge"/>
          <c:x val="6.8733934951492243E-2"/>
          <c:y val="4.2644581015540868E-2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index</c:v>
                </c:pt>
              </c:strCache>
            </c:strRef>
          </c:tx>
          <c:spPr>
            <a:ln w="28575">
              <a:solidFill>
                <a:srgbClr val="C4A27B"/>
              </a:solidFill>
            </a:ln>
          </c:spPr>
          <c:marker>
            <c:symbol val="circle"/>
            <c:size val="6"/>
            <c:spPr>
              <a:solidFill>
                <a:schemeClr val="tx1"/>
              </a:solidFill>
              <a:ln w="9525">
                <a:noFill/>
              </a:ln>
            </c:spPr>
          </c:marker>
          <c:dLbls>
            <c:spPr>
              <a:noFill/>
              <a:ln>
                <a:noFill/>
              </a:ln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Wk 1</c:v>
                </c:pt>
                <c:pt idx="1">
                  <c:v>Wk 4</c:v>
                </c:pt>
                <c:pt idx="2">
                  <c:v>Wk 8</c:v>
                </c:pt>
                <c:pt idx="3">
                  <c:v>Wk 12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112</c:v>
                </c:pt>
                <c:pt idx="2">
                  <c:v>124</c:v>
                </c:pt>
                <c:pt idx="3">
                  <c:v>135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B02-4EE8-B2AD-CA237B034B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Sales/facing index</c:v>
                </c:pt>
              </c:strCache>
            </c:strRef>
          </c:tx>
          <c:spPr>
            <a:ln w="28575">
              <a:solidFill>
                <a:srgbClr val="775835"/>
              </a:solidFill>
            </a:ln>
          </c:spPr>
          <c:marker>
            <c:symbol val="circle"/>
            <c:size val="6"/>
            <c:spPr>
              <a:solidFill>
                <a:schemeClr val="tx1"/>
              </a:solidFill>
              <a:ln w="9525">
                <a:noFill/>
              </a:ln>
            </c:spPr>
          </c:marker>
          <c:dLbls>
            <c:spPr>
              <a:noFill/>
              <a:ln>
                <a:noFill/>
              </a:ln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Wk 1</c:v>
                </c:pt>
                <c:pt idx="1">
                  <c:v>Wk 4</c:v>
                </c:pt>
                <c:pt idx="2">
                  <c:v>Wk 8</c:v>
                </c:pt>
                <c:pt idx="3">
                  <c:v>Wk 12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118</c:v>
                </c:pt>
                <c:pt idx="2">
                  <c:v>132</c:v>
                </c:pt>
                <c:pt idx="3">
                  <c:v>145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B02-4EE8-B2AD-CA237B034B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mpd="sng">
            <a:solidFill>
              <a:schemeClr val="tx1"/>
            </a:solidFill>
          </a:ln>
        </c:spPr>
        <c:txPr>
          <a:bodyPr rot="-60000000" vert="horz"/>
          <a:lstStyle/>
          <a:p>
            <a:pPr>
              <a:defRPr/>
            </a:pPr>
            <a:endParaRPr lang="es-E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160"/>
          <c:min val="80"/>
        </c:scaling>
        <c:delete val="1"/>
        <c:axPos val="l"/>
        <c:numFmt formatCode="General" sourceLinked="1"/>
        <c:majorTickMark val="none"/>
        <c:minorTickMark val="none"/>
        <c:tickLblPos val="nextTo"/>
        <c:crossAx val="1785928255"/>
        <c:crosses val="autoZero"/>
        <c:crossBetween val="between"/>
        <c:majorUnit val="20"/>
      </c:valAx>
      <c:spPr>
        <a:noFill/>
        <a:ln>
          <a:noFill/>
        </a:ln>
      </c:spPr>
    </c:plotArea>
    <c:legend>
      <c:legendPos val="t"/>
      <c:layout>
        <c:manualLayout>
          <c:xMode val="edge"/>
          <c:yMode val="edge"/>
          <c:x val="0.58946046342054836"/>
          <c:y val="6.4606234477498331E-2"/>
          <c:w val="0.39987338466900668"/>
          <c:h val="5.0047586085836461E-2"/>
        </c:manualLayout>
      </c:layout>
      <c:overlay val="0"/>
      <c:spPr>
        <a:noFill/>
      </c:spPr>
      <c:txPr>
        <a:bodyPr rot="0" vert="horz"/>
        <a:lstStyle/>
        <a:p>
          <a:pPr>
            <a:defRPr>
              <a:solidFill>
                <a:schemeClr val="tx1"/>
              </a:solidFill>
            </a:defRPr>
          </a:pPr>
          <a:endParaRPr lang="es-ES"/>
        </a:p>
      </c:txPr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sz="1400">
          <a:latin typeface="Sakkal Majalla" panose="02000000000000000000" pitchFamily="2" charset="-78"/>
          <a:cs typeface="Sakkal Majalla" panose="02000000000000000000" pitchFamily="2" charset="-78"/>
        </a:defRPr>
      </a:pPr>
      <a:endParaRPr lang="es-ES"/>
    </a:p>
  </c:tx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AURA Spritz, EuroGate Duty Free and all pilot terms are fictional and created for demonstration.</a:t>
            </a:r>
          </a:p>
          <a:p>
            <a:r>
              <a:t>Evidence: ACI World reported 9.8 billion global passengers in 2025, up 3.7% versus 2024.</a:t>
            </a:r>
          </a:p>
          <a:p>
            <a:r>
              <a:t>Evidence: IWSR reported RTD volumes up 3% in 2025, the only major alcohol category in growth, with premium-and-above RTDs up more than 15%.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slide defines the tension the rest of the sell-in must solve: airport reach is growing, but beverage alcohol needs sharper conversion logic.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base: ACI, IWSR, m1nd-set and Generation Research/ARI as cited in the footer.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AURA is fictional, so this slide frames the brand as a testable proposition rather than claiming audited brand equity.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proposed range is illustrative and designed to test distinct purchase 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price corridors are illustrative assumptions for a fictional demo. Validate by airport, tax regime, retailer margin policy and competitor shelf set.</a:t>
            </a:r>
          </a:p>
          <a:p>
            <a:r>
              <a:t>Architecture logic: single cans create trial and immediate consumption, light stays at parity to avoid premium dilution, and the 4-pack builds basket value.</a:t>
            </a:r>
          </a:p>
          <a:p>
            <a:r>
              <a:t>Detailed customer economics should follow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AURA Spritz, EuroGate Duty Free and all economics are fictional and created for demonstration.</a:t>
            </a:r>
          </a:p>
          <a:p>
            <a:r>
              <a:t>Illustrative model: Classic 220 cans x €4.75, Blood Orange 150 cans x €4.75, Light 120 cans x €4.75, Travel 4-pack 80 packs x €16.99 per airport week.</a:t>
            </a:r>
          </a:p>
          <a:p>
            <a:r>
              <a:t>Gross profit assumes 35% retail gross margin before activation funding. The real buyer decision should use sell-out, margin policy, tax regime and measured incrementality versus the alcohol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activation plan is illustrative. It is designed to show that the proposal depends on disciplined execution, not just listing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KPI thresholds are illustrative and should be baselined against EuroGate's historical fixture performance by airport and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Commercial terms are fictional for demo purposes. The principle is a shared-risk pilot with clear data access and decision rights.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Close on the decision required: approve a measured pilot and schedule the operating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ADFC721-BADB-9DFE-F053-0B005E3526E5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8574A810-7A8E-054F-9F6B-09E9C694ECF9}" type="slidenum">
              <a:rPr lang="es-ES" smtClean="0"/>
              <a:t>1</a:t>
            </a:fld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2CD6806-6400-C799-A1A3-F217C6D7AA23}"/>
              </a:ext>
            </a:extLst>
          </p:cNvPr>
          <p:cNvSpPr txBox="1"/>
          <p:nvPr/>
        </p:nvSpPr>
        <p:spPr>
          <a:xfrm>
            <a:off x="393700" y="2119853"/>
            <a:ext cx="6367318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AURA Spritz</a:t>
            </a:r>
            <a:br>
              <a:rPr lang="es-ES" sz="4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s-ES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es-ES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Premium RTD </a:t>
            </a:r>
            <a:r>
              <a:rPr lang="es-ES" sz="3200" b="1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aperitif</a:t>
            </a:r>
            <a:r>
              <a:rPr lang="es-ES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s-ES" sz="3200" b="1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range</a:t>
            </a:r>
            <a:r>
              <a:rPr lang="es-ES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s-ES" sz="3200" b="1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for</a:t>
            </a:r>
            <a:r>
              <a:rPr lang="es-ES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s-ES" sz="3200" b="1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European</a:t>
            </a:r>
            <a:r>
              <a:rPr lang="es-ES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s-ES" sz="3200" b="1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airport</a:t>
            </a:r>
            <a:r>
              <a:rPr lang="es-ES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s-ES" sz="3200" b="1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travel</a:t>
            </a:r>
            <a:r>
              <a:rPr lang="es-ES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s-ES" sz="3200" b="1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retail</a:t>
            </a:r>
            <a:endParaRPr lang="es-ES" sz="3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57370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D75FED6-38D0-DE9C-92C0-6E7FA635581C}" type="slidenum">
              <a:rPr>
                <a:latin typeface="Sakkal Majalla" panose="020F0502020204030204" pitchFamily="2" charset="-78"/>
                <a:cs typeface="Sakkal Majalla" panose="020F0502020204030204" pitchFamily="2" charset="-78"/>
              </a:rPr>
              <a:t>2</a:t>
            </a:fld>
            <a:endParaRPr>
              <a:latin typeface="Sakkal Majalla" panose="020F0502020204030204" pitchFamily="2" charset="-78"/>
              <a:cs typeface="Sakkal Majalla" panose="020F0502020204030204" pitchFamily="2" charset="-78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Sakkal Majalla" panose="020F0502020204030204" pitchFamily="2" charset="-78"/>
                <a:cs typeface="Sakkal Majalla" panose="020F0502020204030204" pitchFamily="2" charset="-78"/>
              </a:rPr>
              <a:t>A premium RTD occasion for airport retail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364" y="5104052"/>
            <a:ext cx="2949575" cy="819150"/>
          </a:xfrm>
        </p:spPr>
        <p:txBody>
          <a:bodyPr>
            <a:normAutofit lnSpcReduction="10000"/>
          </a:bodyPr>
          <a:lstStyle/>
          <a:p>
            <a:pPr marL="0" marR="0" indent="0" algn="ctr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 dirty="0">
                <a:ln>
                  <a:noFill/>
                </a:ln>
                <a:solidFill>
                  <a:prstClr val="black"/>
                </a:solidFill>
                <a:latin typeface="Sakkal Majalla" panose="020F0502020204030204" pitchFamily="2" charset="-78"/>
                <a:ea typeface="Helvetica Neue"/>
                <a:cs typeface="Sakkal Majalla" panose="020F0502020204030204" pitchFamily="2" charset="-78"/>
              </a:rPr>
              <a:t>Global air passengers in 2025</a:t>
            </a:r>
          </a:p>
          <a:p>
            <a:pPr marL="0" marR="0" indent="0" algn="ctr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dirty="0">
                <a:ln>
                  <a:noFill/>
                </a:ln>
                <a:solidFill>
                  <a:prstClr val="black"/>
                </a:solidFill>
                <a:latin typeface="Sakkal Majalla" panose="020F0502020204030204" pitchFamily="2" charset="-78"/>
                <a:ea typeface="Helvetica Neue"/>
                <a:cs typeface="Sakkal Majalla" panose="020F0502020204030204" pitchFamily="2" charset="-78"/>
              </a:rPr>
              <a:t>+3.7% vs 2024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568465" y="5107091"/>
            <a:ext cx="2949575" cy="819150"/>
          </a:xfrm>
        </p:spPr>
        <p:txBody>
          <a:bodyPr>
            <a:normAutofit lnSpcReduction="10000"/>
          </a:bodyPr>
          <a:lstStyle/>
          <a:p>
            <a:pPr marL="0" marR="0" indent="0" algn="ctr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 dirty="0">
                <a:ln>
                  <a:noFill/>
                </a:ln>
                <a:solidFill>
                  <a:prstClr val="black"/>
                </a:solidFill>
                <a:latin typeface="Sakkal Majalla" panose="020F0502020204030204" pitchFamily="2" charset="-78"/>
                <a:ea typeface="Helvetica Neue"/>
                <a:cs typeface="Sakkal Majalla" panose="020F0502020204030204" pitchFamily="2" charset="-78"/>
              </a:rPr>
              <a:t>Premium-and-above RTD</a:t>
            </a:r>
          </a:p>
          <a:p>
            <a:pPr marL="0" marR="0" indent="0" algn="ctr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dirty="0">
                <a:ln>
                  <a:noFill/>
                </a:ln>
                <a:solidFill>
                  <a:prstClr val="black"/>
                </a:solidFill>
                <a:latin typeface="Sakkal Majalla" panose="020F0502020204030204" pitchFamily="2" charset="-78"/>
                <a:ea typeface="Helvetica Neue"/>
                <a:cs typeface="Sakkal Majalla" panose="020F0502020204030204" pitchFamily="2" charset="-78"/>
              </a:rPr>
              <a:t>volume growth in 2025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55738" y="5028433"/>
            <a:ext cx="2949575" cy="819150"/>
          </a:xfrm>
        </p:spPr>
        <p:txBody>
          <a:bodyPr>
            <a:normAutofit lnSpcReduction="10000"/>
          </a:bodyPr>
          <a:lstStyle/>
          <a:p>
            <a:pPr marL="0" marR="0" indent="0" algn="ctr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 dirty="0">
                <a:ln>
                  <a:noFill/>
                </a:ln>
                <a:solidFill>
                  <a:prstClr val="black"/>
                </a:solidFill>
                <a:latin typeface="Sakkal Majalla" panose="020F0502020204030204" pitchFamily="2" charset="-78"/>
                <a:ea typeface="Helvetica Neue"/>
                <a:cs typeface="Sakkal Majalla" panose="020F0502020204030204" pitchFamily="2" charset="-78"/>
              </a:rPr>
              <a:t>RTD volume growth in 2025</a:t>
            </a:r>
          </a:p>
          <a:p>
            <a:pPr marL="0" marR="0" indent="0" algn="ctr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dirty="0">
                <a:ln>
                  <a:noFill/>
                </a:ln>
                <a:solidFill>
                  <a:prstClr val="black"/>
                </a:solidFill>
                <a:latin typeface="Sakkal Majalla" panose="020F0502020204030204" pitchFamily="2" charset="-78"/>
                <a:ea typeface="Helvetica Neue"/>
                <a:cs typeface="Sakkal Majalla" panose="020F0502020204030204" pitchFamily="2" charset="-78"/>
              </a:rPr>
              <a:t>Only major alcohol category up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noGrp="1"/>
          </p:cNvSpPr>
          <p:nvPr/>
        </p:nvSpPr>
        <p:spPr>
          <a:xfrm>
            <a:off x="1066364" y="3632439"/>
            <a:ext cx="2940124" cy="1359356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>
                <a:ln>
                  <a:noFill/>
                </a:ln>
                <a:solidFill>
                  <a:prstClr val="black"/>
                </a:solidFill>
                <a:latin typeface="Sakkal Majalla" panose="020F0502020204030204" pitchFamily="2" charset="-78"/>
                <a:ea typeface="Helvetica Neue"/>
                <a:cs typeface="Sakkal Majalla" panose="020F0502020204030204" pitchFamily="2" charset="-78"/>
              </a:rPr>
              <a:t>9.8bn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noGrp="1"/>
          </p:cNvSpPr>
          <p:nvPr/>
        </p:nvSpPr>
        <p:spPr>
          <a:xfrm>
            <a:off x="4347459" y="3556820"/>
            <a:ext cx="2940124" cy="1359356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 dirty="0">
                <a:ln>
                  <a:noFill/>
                </a:ln>
                <a:solidFill>
                  <a:prstClr val="black"/>
                </a:solidFill>
                <a:latin typeface="Sakkal Majalla" panose="020F0502020204030204" pitchFamily="2" charset="-78"/>
                <a:ea typeface="Helvetica Neue"/>
                <a:cs typeface="Sakkal Majalla" panose="020F0502020204030204" pitchFamily="2" charset="-78"/>
              </a:rPr>
              <a:t>+3%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noGrp="1"/>
          </p:cNvSpPr>
          <p:nvPr/>
        </p:nvSpPr>
        <p:spPr>
          <a:xfrm>
            <a:off x="7588968" y="3635478"/>
            <a:ext cx="2940124" cy="1359356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 dirty="0">
                <a:ln>
                  <a:noFill/>
                </a:ln>
                <a:solidFill>
                  <a:prstClr val="black"/>
                </a:solidFill>
                <a:latin typeface="Sakkal Majalla" panose="020F0502020204030204" pitchFamily="2" charset="-78"/>
                <a:ea typeface="Helvetica Neue"/>
                <a:cs typeface="Sakkal Majalla" panose="020F0502020204030204" pitchFamily="2" charset="-78"/>
              </a:rPr>
              <a:t>&gt;15%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noGrp="1"/>
          </p:cNvSpPr>
          <p:nvPr/>
        </p:nvSpPr>
        <p:spPr>
          <a:xfrm>
            <a:off x="393701" y="1665111"/>
            <a:ext cx="11404599" cy="1599406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800" dirty="0">
                <a:solidFill>
                  <a:prstClr val="black"/>
                </a:solidFill>
                <a:latin typeface="Sakkal Majalla" panose="020F0502020204030204" pitchFamily="2" charset="-78"/>
                <a:ea typeface="Helvetica Neue Medium"/>
                <a:cs typeface="Sakkal Majalla" panose="020F0502020204030204" pitchFamily="2" charset="-78"/>
              </a:rPr>
              <a:t>EXECUTIVE OPPORTUNITY</a:t>
            </a:r>
            <a:br>
              <a:rPr lang="es-ES" sz="2800" dirty="0">
                <a:solidFill>
                  <a:prstClr val="black"/>
                </a:solidFill>
                <a:latin typeface="Sakkal Majalla" panose="020F0502020204030204" pitchFamily="2" charset="-78"/>
                <a:ea typeface="Helvetica Neue Medium"/>
                <a:cs typeface="Sakkal Majalla" panose="020F0502020204030204" pitchFamily="2" charset="-78"/>
              </a:rPr>
            </a:br>
            <a:endParaRPr sz="2800" dirty="0">
              <a:solidFill>
                <a:prstClr val="black"/>
              </a:solidFill>
              <a:latin typeface="Sakkal Majalla" panose="020F0502020204030204" pitchFamily="2" charset="-78"/>
              <a:ea typeface="Helvetica Neue Medium"/>
              <a:cs typeface="Sakkal Majalla" panose="020F0502020204030204" pitchFamily="2" charset="-78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dirty="0">
                <a:solidFill>
                  <a:prstClr val="black"/>
                </a:solidFill>
                <a:latin typeface="Sakkal Majalla" panose="020F0502020204030204" pitchFamily="2" charset="-78"/>
                <a:ea typeface="Helvetica Neue"/>
                <a:cs typeface="Sakkal Majalla" panose="020F0502020204030204" pitchFamily="2" charset="-78"/>
              </a:rPr>
              <a:t>Run a 12-week summer pilot across three </a:t>
            </a:r>
            <a:r>
              <a:rPr sz="1800" dirty="0" err="1">
                <a:solidFill>
                  <a:prstClr val="black"/>
                </a:solidFill>
                <a:latin typeface="Sakkal Majalla" panose="020F0502020204030204" pitchFamily="2" charset="-78"/>
                <a:ea typeface="Helvetica Neue"/>
                <a:cs typeface="Sakkal Majalla" panose="020F0502020204030204" pitchFamily="2" charset="-78"/>
              </a:rPr>
              <a:t>EuroGate</a:t>
            </a:r>
            <a:r>
              <a:rPr sz="1800" dirty="0">
                <a:solidFill>
                  <a:prstClr val="black"/>
                </a:solidFill>
                <a:latin typeface="Sakkal Majalla" panose="020F0502020204030204" pitchFamily="2" charset="-78"/>
                <a:ea typeface="Helvetica Neue"/>
                <a:cs typeface="Sakkal Majalla" panose="020F0502020204030204" pitchFamily="2" charset="-78"/>
              </a:rPr>
              <a:t> airports to test a chilled premium RTD occasion. Measure </a:t>
            </a:r>
            <a:r>
              <a:rPr sz="1800" dirty="0" err="1">
                <a:solidFill>
                  <a:prstClr val="black"/>
                </a:solidFill>
                <a:latin typeface="Sakkal Majalla" panose="020F0502020204030204" pitchFamily="2" charset="-78"/>
                <a:ea typeface="Helvetica Neue"/>
                <a:cs typeface="Sakkal Majalla" panose="020F0502020204030204" pitchFamily="2" charset="-78"/>
              </a:rPr>
              <a:t>traveller</a:t>
            </a:r>
            <a:r>
              <a:rPr sz="1800" dirty="0">
                <a:solidFill>
                  <a:prstClr val="black"/>
                </a:solidFill>
                <a:latin typeface="Sakkal Majalla" panose="020F0502020204030204" pitchFamily="2" charset="-78"/>
                <a:ea typeface="Helvetica Neue"/>
                <a:cs typeface="Sakkal Majalla" panose="020F0502020204030204" pitchFamily="2" charset="-78"/>
              </a:rPr>
              <a:t> conversion, revenue per facing and basket attachment across four SKUs plus one exclusive multipack. Decision requested: approve the pilot scope and joint KPI governance</a:t>
            </a:r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900EC5BE-2B4D-939D-B2BC-321F895D023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393372"/>
            <a:ext cx="3568700" cy="241240"/>
          </a:xfrm>
        </p:spPr>
        <p:txBody>
          <a:bodyPr/>
          <a:lstStyle/>
          <a:p>
            <a:r>
              <a:rPr dirty="0">
                <a:latin typeface="Sakkal Majalla" panose="020F0502020204030204" pitchFamily="2" charset="-78"/>
                <a:cs typeface="Sakkal Majalla" panose="020F0502020204030204" pitchFamily="2" charset="-78"/>
              </a:rPr>
              <a:t>ACI World; IWSR (2026) | Illustrative proposal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rPr sz="1100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ACI; IWSR; m1nd-set; Gen. Research/ARI | Illustrative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E2598689-54C9-18A7-3A19-ED76AA08988F}" type="slidenum">
              <a:rPr sz="1100">
                <a:latin typeface="Sakkal Majalla" panose="02000000000000000000" pitchFamily="2" charset="-78"/>
                <a:cs typeface="Sakkal Majalla" panose="02000000000000000000" pitchFamily="2" charset="-78"/>
              </a:rPr>
              <a:t>3</a:t>
            </a:fld>
            <a:endParaRPr sz="11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488"/>
            <a:ext cx="11312747" cy="1283032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rPr sz="4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The opening is real, but conversion will not happen by shelf space alone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noGrp="1"/>
          </p:cNvSpPr>
          <p:nvPr/>
        </p:nvSpPr>
        <p:spPr>
          <a:xfrm>
            <a:off x="4621330" y="4438077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RTD is the growth pocket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In a declining alcohol market, premium RTD is one of the few scalable growth spaces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noGrp="1"/>
          </p:cNvSpPr>
          <p:nvPr/>
        </p:nvSpPr>
        <p:spPr>
          <a:xfrm>
            <a:off x="8306968" y="4433414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Airport shoppers compare fast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The range must be chilled, giftable and price-credible within a short decision window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noGrp="1"/>
          </p:cNvSpPr>
          <p:nvPr/>
        </p:nvSpPr>
        <p:spPr>
          <a:xfrm>
            <a:off x="739538" y="4433415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Traffic is back; spend is not automatic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Passenger recovery creates reach, but conversion still needs a fast, visible reason to stop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noGrp="1"/>
          </p:cNvSpPr>
          <p:nvPr/>
        </p:nvSpPr>
        <p:spPr>
          <a:xfrm>
            <a:off x="485554" y="1394316"/>
            <a:ext cx="8617285" cy="188817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800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CATEGORY AND TRAVELLER TENSION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Global traffic is nearly back to 10bn passengers, but beverage alcohol is in a volume reset and wines &amp; spirits are not leading airport growth. The pilot should solve a specific mission: make the airport purchase feel easy, chilled, giftable and price-credible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Objective for </a:t>
            </a:r>
            <a:r>
              <a:rPr sz="1800" dirty="0" err="1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EuroGate</a:t>
            </a:r>
            <a:r>
              <a:rPr sz="18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: prove incremental conversion, not just incremental shelf complexity</a:t>
            </a:r>
            <a:endParaRPr sz="2000" dirty="0"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rPr sz="1100">
                <a:latin typeface="Sakkal Majalla" panose="02000000000000000000" pitchFamily="2" charset="-78"/>
                <a:cs typeface="Sakkal Majalla" panose="02000000000000000000" pitchFamily="2" charset="-78"/>
              </a:rPr>
              <a:t>IWSR; m1nd-set; Gen. Research/ARI | Fictional brand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202359C0-8A7A-196E-DD58-8E6569619F09}" type="slidenum">
              <a:rPr sz="1100">
                <a:latin typeface="Sakkal Majalla" panose="02000000000000000000" pitchFamily="2" charset="-78"/>
                <a:cs typeface="Sakkal Majalla" panose="02000000000000000000" pitchFamily="2" charset="-78"/>
              </a:rPr>
              <a:t>4</a:t>
            </a:fld>
            <a:endParaRPr sz="11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rPr sz="4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AURA makes premium RTD simple enough to convert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noGrp="1"/>
          </p:cNvSpPr>
          <p:nvPr/>
        </p:nvSpPr>
        <p:spPr>
          <a:xfrm>
            <a:off x="5922550" y="3374401"/>
            <a:ext cx="4583477" cy="1048436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Customer benefit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A testable incrementality play: premium price per </a:t>
            </a:r>
            <a:r>
              <a:rPr sz="2000" dirty="0" err="1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litre</a:t>
            </a: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, compact facings and basket attachment potential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noGrp="1"/>
          </p:cNvSpPr>
          <p:nvPr/>
        </p:nvSpPr>
        <p:spPr>
          <a:xfrm>
            <a:off x="706278" y="3374401"/>
            <a:ext cx="4583477" cy="1048436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="1" i="0" u="none" cap="none" dirty="0">
                <a:ln>
                  <a:noFill/>
                </a:ln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Consumer benefit</a:t>
            </a:r>
          </a:p>
          <a:p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2000" b="0" i="0" u="none" cap="none" dirty="0">
                <a:ln>
                  <a:noFill/>
                </a:ln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A clear pre-flight or gifting choice: chilled, lower-ABV, premium cues and no mixer decision</a:t>
            </a: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noGrp="1"/>
          </p:cNvSpPr>
          <p:nvPr/>
        </p:nvSpPr>
        <p:spPr>
          <a:xfrm>
            <a:off x="5922550" y="4989503"/>
            <a:ext cx="4656960" cy="1048436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Watch-out / mitigation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Risk is novelty without repeat. Control it with exclusive pack, chilled visibility and weekly sell-out review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noGrp="1"/>
          </p:cNvSpPr>
          <p:nvPr/>
        </p:nvSpPr>
        <p:spPr>
          <a:xfrm>
            <a:off x="706278" y="4989503"/>
            <a:ext cx="4750625" cy="1048436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Strength / opportunity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RTD is growing while alcohol volumes soften; AURA can recruit modern aperitif occasions into airport retail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noGrp="1"/>
          </p:cNvSpPr>
          <p:nvPr/>
        </p:nvSpPr>
        <p:spPr>
          <a:xfrm>
            <a:off x="540888" y="1155095"/>
            <a:ext cx="9850501" cy="10122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800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WHY THE BRAND IS RELEVANT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AURA is a fictional premium spritz RTD built around a clear travel-retail job: chilled, lighter and easier than full-size spirits, but more special than beer. The pilot should prove relevance through shopper behavior, not brand claims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rPr sz="11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Illustrative range for 12-week pilot | Fictional SKUs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EFD6AB9A-5F9E-5F59-51AB-3C8734130965}" type="slidenum">
              <a:rPr sz="1100">
                <a:latin typeface="Sakkal Majalla" panose="02000000000000000000" pitchFamily="2" charset="-78"/>
                <a:cs typeface="Sakkal Majalla" panose="02000000000000000000" pitchFamily="2" charset="-78"/>
              </a:rPr>
              <a:t>5</a:t>
            </a:fld>
            <a:endParaRPr sz="11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468007"/>
            <a:ext cx="8037919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rPr sz="4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The pilot range balances conversion, gifting and operational simplicity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noGrp="1"/>
          </p:cNvSpPr>
          <p:nvPr/>
        </p:nvSpPr>
        <p:spPr>
          <a:xfrm>
            <a:off x="6972300" y="2368551"/>
            <a:ext cx="4307032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Core 250ml can. Anchors the fixture with the most familiar aperitif profile and simple chilled serve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noGrp="1"/>
          </p:cNvSpPr>
          <p:nvPr/>
        </p:nvSpPr>
        <p:spPr>
          <a:xfrm>
            <a:off x="4401879" y="2368551"/>
            <a:ext cx="2169042" cy="6477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AURA</a:t>
            </a:r>
            <a:r>
              <a:rPr lang="es-ES"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 - </a:t>
            </a:r>
            <a:r>
              <a:rPr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Classic Spritz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noGrp="1"/>
          </p:cNvSpPr>
          <p:nvPr/>
        </p:nvSpPr>
        <p:spPr>
          <a:xfrm>
            <a:off x="6972300" y="3237017"/>
            <a:ext cx="4307032" cy="647700"/>
          </a:xfrm>
          <a:prstGeom prst="rect">
            <a:avLst/>
          </a:prstGeom>
        </p:spPr>
        <p:txBody>
          <a:bodyPr vert="horz" lIns="0" tIns="0" rIns="0" bIns="0">
            <a:normAutofit fontScale="925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250ml trial </a:t>
            </a:r>
            <a:r>
              <a:rPr sz="2000" dirty="0" err="1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flavour</a:t>
            </a: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. Adds </a:t>
            </a:r>
            <a:r>
              <a:rPr sz="2000" dirty="0" err="1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colour</a:t>
            </a: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 and browse value for spontaneous shoppers without adding a new pack format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noGrp="1"/>
          </p:cNvSpPr>
          <p:nvPr/>
        </p:nvSpPr>
        <p:spPr>
          <a:xfrm>
            <a:off x="4401879" y="3237017"/>
            <a:ext cx="2169042" cy="6477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AURA</a:t>
            </a:r>
            <a:r>
              <a:rPr lang="es-ES"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 - </a:t>
            </a:r>
            <a:r>
              <a:rPr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Blood Orange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noGrp="1"/>
          </p:cNvSpPr>
          <p:nvPr/>
        </p:nvSpPr>
        <p:spPr>
          <a:xfrm>
            <a:off x="6972300" y="4105483"/>
            <a:ext cx="4307032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250ml lower-ABV option. Broadens permission for pre-flight occasions and moderation-led </a:t>
            </a:r>
            <a:r>
              <a:rPr sz="2000" dirty="0" err="1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travellers</a:t>
            </a:r>
            <a:endParaRPr sz="2000" dirty="0">
              <a:solidFill>
                <a:prstClr val="black"/>
              </a:solidFill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noGrp="1"/>
          </p:cNvSpPr>
          <p:nvPr/>
        </p:nvSpPr>
        <p:spPr>
          <a:xfrm>
            <a:off x="4401879" y="4105483"/>
            <a:ext cx="2169042" cy="6477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AURA</a:t>
            </a:r>
            <a:r>
              <a:rPr lang="es-ES"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 - </a:t>
            </a:r>
            <a:r>
              <a:rPr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Light 5%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noGrp="1"/>
          </p:cNvSpPr>
          <p:nvPr/>
        </p:nvSpPr>
        <p:spPr>
          <a:xfrm>
            <a:off x="6972300" y="5009115"/>
            <a:ext cx="4307032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Exclusive 4x250ml sleeve. Creates a giftable airport reason to buy and a clean basket-building mechanic</a:t>
            </a: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noGrp="1"/>
          </p:cNvSpPr>
          <p:nvPr/>
        </p:nvSpPr>
        <p:spPr>
          <a:xfrm>
            <a:off x="4401879" y="5009115"/>
            <a:ext cx="2169042" cy="6477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AURA</a:t>
            </a:r>
            <a:r>
              <a:rPr lang="es-ES"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 - </a:t>
            </a:r>
            <a:r>
              <a:rPr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Travel 4-pack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noGrp="1"/>
          </p:cNvSpPr>
          <p:nvPr/>
        </p:nvSpPr>
        <p:spPr>
          <a:xfrm>
            <a:off x="474662" y="2246313"/>
            <a:ext cx="35687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b="1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PROPOSED RANGE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Start with four airport-readable roles: </a:t>
            </a:r>
            <a:r>
              <a:rPr lang="es-ES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- C</a:t>
            </a:r>
            <a:r>
              <a:rPr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ore spritz for recognition</a:t>
            </a:r>
            <a:br>
              <a:rPr lang="es-ES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</a:br>
            <a:r>
              <a:rPr lang="es-ES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- C</a:t>
            </a:r>
            <a:r>
              <a:rPr dirty="0" err="1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itrus</a:t>
            </a:r>
            <a:r>
              <a:rPr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 trial SKU</a:t>
            </a:r>
            <a:br>
              <a:rPr lang="es-ES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</a:br>
            <a:r>
              <a:rPr lang="es-ES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- O</a:t>
            </a:r>
            <a:r>
              <a:rPr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ne lighter option</a:t>
            </a:r>
            <a:br>
              <a:rPr lang="es-ES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</a:br>
            <a:r>
              <a:rPr lang="es-ES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- O</a:t>
            </a:r>
            <a:r>
              <a:rPr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ne travel-exclusive multipack</a:t>
            </a:r>
            <a:br>
              <a:rPr lang="es-ES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</a:br>
            <a:r>
              <a:rPr sz="20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The range is narrow so the pilot can isolate conversion, basket attachment and revenue per facing without overloading chillers</a:t>
            </a:r>
            <a:endParaRPr dirty="0"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38F830-7B9C-051B-DC12-9F0215005DD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rPr>
                <a:latin typeface="Sakkal Majalla" panose="02000000000000000000" pitchFamily="2" charset="-78"/>
                <a:cs typeface="Sakkal Majalla" panose="02000000000000000000" pitchFamily="2" charset="-78"/>
              </a:rPr>
              <a:t>Illustrative RSP corridors | Validate by airport and tax regime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D1D8A-CA3D-A434-0754-9F35315A762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EE5B3003-2C54-13C6-9832-7637201064DE}" type="slidenum">
              <a:rPr>
                <a:latin typeface="Sakkal Majalla" panose="02000000000000000000" pitchFamily="2" charset="-78"/>
                <a:cs typeface="Sakkal Majalla" panose="02000000000000000000" pitchFamily="2" charset="-78"/>
              </a:rPr>
              <a:t>6</a:t>
            </a:fld>
            <a:endParaRPr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C5976F4-A9B2-F2E7-4978-328D7E79F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>
            <a:normAutofit/>
          </a:bodyPr>
          <a:lstStyle/>
          <a:p>
            <a:r>
              <a:rPr sz="4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Price packs create a clear ladder from trial to basket build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5CF19569-DF26-117A-C6D2-24D6F235C247}"/>
              </a:ext>
            </a:extLst>
          </p:cNvPr>
          <p:cNvSpPr>
            <a:spLocks noGrp="1"/>
          </p:cNvSpPr>
          <p:nvPr/>
        </p:nvSpPr>
        <p:spPr>
          <a:xfrm>
            <a:off x="893762" y="4942939"/>
            <a:ext cx="2834703" cy="3549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RSP </a:t>
            </a:r>
            <a:r>
              <a:rPr lang="es-ES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Range</a:t>
            </a:r>
            <a:endParaRPr dirty="0">
              <a:solidFill>
                <a:prstClr val="black"/>
              </a:solidFill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E85BCA0B-F11A-3F91-BFDC-60A710EB42E7}"/>
              </a:ext>
            </a:extLst>
          </p:cNvPr>
          <p:cNvSpPr>
            <a:spLocks noGrp="1"/>
          </p:cNvSpPr>
          <p:nvPr/>
        </p:nvSpPr>
        <p:spPr>
          <a:xfrm>
            <a:off x="893762" y="5267130"/>
            <a:ext cx="1705769" cy="481833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32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€4.50-5.00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04A72865-CE67-0213-93F1-FBB87D272977}"/>
              </a:ext>
            </a:extLst>
          </p:cNvPr>
          <p:cNvSpPr>
            <a:spLocks noGrp="1"/>
          </p:cNvSpPr>
          <p:nvPr/>
        </p:nvSpPr>
        <p:spPr>
          <a:xfrm>
            <a:off x="1899798" y="5409750"/>
            <a:ext cx="1362869" cy="21233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/ 250ml can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6989FC58-6651-988F-2173-E553A2622332}"/>
              </a:ext>
            </a:extLst>
          </p:cNvPr>
          <p:cNvSpPr>
            <a:spLocks noGrp="1"/>
          </p:cNvSpPr>
          <p:nvPr/>
        </p:nvSpPr>
        <p:spPr>
          <a:xfrm>
            <a:off x="4322974" y="2316048"/>
            <a:ext cx="2834703" cy="2040052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3200"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Light at parity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The lower-ABV SKU should not signal discount. Price parity protects premium cues while broadening the pre-flight occasion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695EE02-BC3C-19F6-65E7-0966804A6EE9}"/>
              </a:ext>
            </a:extLst>
          </p:cNvPr>
          <p:cNvSpPr>
            <a:spLocks noGrp="1"/>
          </p:cNvSpPr>
          <p:nvPr/>
        </p:nvSpPr>
        <p:spPr>
          <a:xfrm>
            <a:off x="4332556" y="5291866"/>
            <a:ext cx="1971583" cy="481833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32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€4.50-5.00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32C659A-53B8-CC59-46D1-4E699E1956E1}"/>
              </a:ext>
            </a:extLst>
          </p:cNvPr>
          <p:cNvSpPr>
            <a:spLocks noGrp="1"/>
          </p:cNvSpPr>
          <p:nvPr/>
        </p:nvSpPr>
        <p:spPr>
          <a:xfrm>
            <a:off x="5318347" y="5434486"/>
            <a:ext cx="1362869" cy="21233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/ 250ml can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6D411AC2-1983-F431-63FB-933A18032744}"/>
              </a:ext>
            </a:extLst>
          </p:cNvPr>
          <p:cNvSpPr>
            <a:spLocks noGrp="1"/>
          </p:cNvSpPr>
          <p:nvPr/>
        </p:nvSpPr>
        <p:spPr>
          <a:xfrm>
            <a:off x="7752186" y="2316048"/>
            <a:ext cx="2518865" cy="2040052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3200"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Travel 4-pack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Exclusive sleeve for gifting, hotel and arrival use. Builds basket value while keeping per-can premium visible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AAC48D9A-ED1F-3DF8-29B1-38FC259FEB4D}"/>
              </a:ext>
            </a:extLst>
          </p:cNvPr>
          <p:cNvSpPr>
            <a:spLocks noGrp="1"/>
          </p:cNvSpPr>
          <p:nvPr/>
        </p:nvSpPr>
        <p:spPr>
          <a:xfrm>
            <a:off x="7761767" y="5299735"/>
            <a:ext cx="2410933" cy="481833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32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€15.99-17.99</a:t>
            </a:r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8D7AA20E-1806-08EF-DC79-F624261548F4}"/>
              </a:ext>
            </a:extLst>
          </p:cNvPr>
          <p:cNvSpPr>
            <a:spLocks noGrp="1"/>
          </p:cNvSpPr>
          <p:nvPr/>
        </p:nvSpPr>
        <p:spPr>
          <a:xfrm>
            <a:off x="9007951" y="5434486"/>
            <a:ext cx="1362869" cy="21233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/ 4x250ml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1939D6-9D6D-42BA-25A5-C8039DC2C62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93762" y="2316163"/>
            <a:ext cx="2834703" cy="2039937"/>
          </a:xfrm>
        </p:spPr>
        <p:txBody>
          <a:bodyPr>
            <a:noAutofit/>
          </a:bodyPr>
          <a:lstStyle/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3200" b="1" u="none" cap="none" dirty="0">
                <a:ln>
                  <a:noFill/>
                </a:ln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Single cans</a:t>
            </a:r>
          </a:p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dirty="0">
                <a:ln>
                  <a:noFill/>
                </a:ln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Entry point for chilled trial and immediate consumption. Same price corridor across classic, blood orange and light to keep choice simple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BAFAF205-845E-4E14-F097-EC76F64C5BC0}"/>
              </a:ext>
            </a:extLst>
          </p:cNvPr>
          <p:cNvSpPr>
            <a:spLocks noGrp="1"/>
          </p:cNvSpPr>
          <p:nvPr/>
        </p:nvSpPr>
        <p:spPr>
          <a:xfrm>
            <a:off x="4322973" y="4942939"/>
            <a:ext cx="2834703" cy="3549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RSP </a:t>
            </a:r>
            <a:r>
              <a:rPr lang="es-ES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Range</a:t>
            </a:r>
            <a:endParaRPr dirty="0">
              <a:solidFill>
                <a:prstClr val="black"/>
              </a:solidFill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7FBD7E62-75A2-6E72-CCB0-C66BCC433388}"/>
              </a:ext>
            </a:extLst>
          </p:cNvPr>
          <p:cNvSpPr>
            <a:spLocks noGrp="1"/>
          </p:cNvSpPr>
          <p:nvPr/>
        </p:nvSpPr>
        <p:spPr>
          <a:xfrm>
            <a:off x="7761767" y="4942939"/>
            <a:ext cx="2834703" cy="3549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RSP </a:t>
            </a:r>
            <a:r>
              <a:rPr lang="es-ES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Range</a:t>
            </a:r>
            <a:endParaRPr dirty="0">
              <a:solidFill>
                <a:prstClr val="black"/>
              </a:solidFill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75360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729479" y="6143434"/>
            <a:ext cx="3568700" cy="241300"/>
          </a:xfrm>
        </p:spPr>
        <p:txBody>
          <a:bodyPr/>
          <a:lstStyle/>
          <a:p>
            <a:r>
              <a:rPr sz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Illustrative economics | Validate sell-out and GM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C630A04-5A25-9E0C-9436-126091DB86B3}" type="slidenum">
              <a:rPr sz="1200">
                <a:latin typeface="Sakkal Majalla" panose="02000000000000000000" pitchFamily="2" charset="-78"/>
                <a:cs typeface="Sakkal Majalla" panose="02000000000000000000" pitchFamily="2" charset="-78"/>
              </a:rPr>
              <a:t>7</a:t>
            </a:fld>
            <a:endParaRPr sz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sz="4000">
                <a:latin typeface="Sakkal Majalla" panose="02000000000000000000" pitchFamily="2" charset="-78"/>
                <a:cs typeface="Sakkal Majalla" panose="02000000000000000000" pitchFamily="2" charset="-78"/>
              </a:rPr>
              <a:t>Economics work only if the pilot proves incremental sales</a:t>
            </a:r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noGrp="1"/>
          </p:cNvSpPr>
          <p:nvPr/>
        </p:nvSpPr>
        <p:spPr>
          <a:xfrm>
            <a:off x="6692960" y="4430784"/>
            <a:ext cx="1438122" cy="903750"/>
          </a:xfrm>
          <a:prstGeom prst="rect">
            <a:avLst/>
          </a:prstGeom>
        </p:spPr>
        <p:txBody>
          <a:bodyPr vert="horz" lIns="0" tIns="0" rIns="0" bIns="0" anchor="b">
            <a:normAutofit fontScale="92500"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000" u="none" cap="none" dirty="0">
                <a:ln>
                  <a:noFill/>
                </a:ln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€3.7k</a:t>
            </a: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noGrp="1"/>
          </p:cNvSpPr>
          <p:nvPr/>
        </p:nvSpPr>
        <p:spPr>
          <a:xfrm>
            <a:off x="6550379" y="5121400"/>
            <a:ext cx="1764908" cy="6159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Gross sales / airport-week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illustrative steady state</a:t>
            </a:r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noGrp="1"/>
          </p:cNvSpPr>
          <p:nvPr/>
        </p:nvSpPr>
        <p:spPr>
          <a:xfrm>
            <a:off x="8824230" y="4430784"/>
            <a:ext cx="1356707" cy="903750"/>
          </a:xfrm>
          <a:prstGeom prst="rect">
            <a:avLst/>
          </a:prstGeom>
        </p:spPr>
        <p:txBody>
          <a:bodyPr vert="horz" lIns="0" tIns="0" rIns="0" bIns="0" anchor="b">
            <a:normAutofit fontScale="92500"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000" u="none" cap="none" dirty="0">
                <a:ln>
                  <a:noFill/>
                </a:ln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€1.3k</a:t>
            </a: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noGrp="1"/>
          </p:cNvSpPr>
          <p:nvPr/>
        </p:nvSpPr>
        <p:spPr>
          <a:xfrm>
            <a:off x="8620130" y="5121400"/>
            <a:ext cx="1764908" cy="6159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Gross profit / airport-week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35% retail GM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noGrp="1"/>
          </p:cNvSpPr>
          <p:nvPr/>
        </p:nvSpPr>
        <p:spPr>
          <a:xfrm>
            <a:off x="6550379" y="1544732"/>
            <a:ext cx="5101563" cy="26019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36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ECONOMIC MODEL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Illustrative per-airport week at steady state. Cans recruit chilled trial while the travel 4-pack lifts basket value. The pilot should pass only if measured sales are incremental to the alcohol fixture, not substitution</a:t>
            </a:r>
          </a:p>
        </p:txBody>
      </p:sp>
      <p:graphicFrame>
        <p:nvGraphicFramePr>
          <p:cNvPr id="53" name="Chart 2"/>
          <p:cNvGraphicFramePr/>
          <p:nvPr>
            <p:extLst>
              <p:ext uri="{D42A27DB-BD31-4B8C-83A1-F6EECF244321}">
                <p14:modId xmlns:p14="http://schemas.microsoft.com/office/powerpoint/2010/main" val="4172977996"/>
              </p:ext>
            </p:extLst>
          </p:nvPr>
        </p:nvGraphicFramePr>
        <p:xfrm>
          <a:off x="287079" y="1391499"/>
          <a:ext cx="5763619" cy="4968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rPr sz="1200">
                <a:latin typeface="Sakkal Majalla" panose="02000000000000000000" pitchFamily="2" charset="-78"/>
                <a:cs typeface="Sakkal Majalla" panose="02000000000000000000" pitchFamily="2" charset="-78"/>
              </a:rPr>
              <a:t>Illustrative 12-week activation plan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D3D7D1C8-AE23-AA48-DF65-C742588DBE47}" type="slidenum">
              <a:rPr sz="1200">
                <a:latin typeface="Sakkal Majalla" panose="02000000000000000000" pitchFamily="2" charset="-78"/>
                <a:cs typeface="Sakkal Majalla" panose="02000000000000000000" pitchFamily="2" charset="-78"/>
              </a:rPr>
              <a:t>8</a:t>
            </a:fld>
            <a:endParaRPr sz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629457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rPr sz="4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Activation plan turns shelf space into a measured 12-week test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65AEAF0-D8DA-6745-326E-8E9B4E708E5C}"/>
              </a:ext>
            </a:extLst>
          </p:cNvPr>
          <p:cNvSpPr>
            <a:spLocks noGrp="1"/>
          </p:cNvSpPr>
          <p:nvPr/>
        </p:nvSpPr>
        <p:spPr>
          <a:xfrm>
            <a:off x="633413" y="2000250"/>
            <a:ext cx="2351087" cy="46990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lang="es-ES" dirty="0">
                <a:latin typeface="Sakkal Majalla" panose="02000000000000000000" pitchFamily="2" charset="-78"/>
                <a:cs typeface="Sakkal Majalla" panose="02000000000000000000" pitchFamily="2" charset="-78"/>
              </a:rPr>
              <a:t>Fixture </a:t>
            </a:r>
            <a:r>
              <a:rPr lang="es-E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build</a:t>
            </a:r>
            <a:r>
              <a:rPr lang="es-E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+ POS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CFC048E-4CDC-514D-AE8F-C9B65A314757}"/>
              </a:ext>
            </a:extLst>
          </p:cNvPr>
          <p:cNvSpPr txBox="1"/>
          <p:nvPr/>
        </p:nvSpPr>
        <p:spPr>
          <a:xfrm>
            <a:off x="2914650" y="275269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Staff </a:t>
            </a:r>
            <a:r>
              <a:rPr lang="es-ES" sz="2400" dirty="0" err="1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brief</a:t>
            </a:r>
            <a:r>
              <a:rPr lang="es-ES" sz="24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 + serve </a:t>
            </a:r>
            <a:r>
              <a:rPr lang="es-ES" sz="2400" dirty="0" err="1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message</a:t>
            </a:r>
            <a:endParaRPr lang="es-ES" sz="2400" dirty="0"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4305BC2-348D-02AC-0591-7C11C61DFDE1}"/>
              </a:ext>
            </a:extLst>
          </p:cNvPr>
          <p:cNvSpPr txBox="1"/>
          <p:nvPr/>
        </p:nvSpPr>
        <p:spPr>
          <a:xfrm>
            <a:off x="2914650" y="344358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Hero </a:t>
            </a:r>
            <a:r>
              <a:rPr lang="es-ES" sz="2400" dirty="0" err="1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visibility</a:t>
            </a:r>
            <a:r>
              <a:rPr lang="es-ES" sz="24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 + </a:t>
            </a:r>
            <a:r>
              <a:rPr lang="es-ES" sz="2400" dirty="0" err="1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price</a:t>
            </a:r>
            <a:r>
              <a:rPr lang="es-ES" sz="24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 </a:t>
            </a:r>
            <a:r>
              <a:rPr lang="es-ES" sz="2400" dirty="0" err="1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signage</a:t>
            </a:r>
            <a:endParaRPr lang="es-ES" sz="2400" dirty="0"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05A0491-16CB-4558-37B5-427F241DEAA9}"/>
              </a:ext>
            </a:extLst>
          </p:cNvPr>
          <p:cNvSpPr txBox="1"/>
          <p:nvPr/>
        </p:nvSpPr>
        <p:spPr>
          <a:xfrm>
            <a:off x="4555809" y="4124008"/>
            <a:ext cx="40786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Weekly </a:t>
            </a:r>
            <a:r>
              <a:rPr lang="es-ES" sz="2400" dirty="0" err="1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sell-out</a:t>
            </a:r>
            <a:r>
              <a:rPr lang="es-ES" sz="24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 </a:t>
            </a:r>
            <a:r>
              <a:rPr lang="es-ES" sz="2400" dirty="0" err="1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analysis</a:t>
            </a:r>
            <a:endParaRPr lang="es-ES" sz="2400" dirty="0"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774B85-4BBB-3E98-0A41-01A11887A049}"/>
              </a:ext>
            </a:extLst>
          </p:cNvPr>
          <p:cNvSpPr txBox="1"/>
          <p:nvPr/>
        </p:nvSpPr>
        <p:spPr>
          <a:xfrm>
            <a:off x="7223760" y="4782840"/>
            <a:ext cx="3843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4-pack </a:t>
            </a:r>
            <a:r>
              <a:rPr lang="es-ES" sz="2400" dirty="0" err="1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gifting</a:t>
            </a:r>
            <a:r>
              <a:rPr lang="es-ES" sz="24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 </a:t>
            </a:r>
            <a:r>
              <a:rPr lang="es-ES" sz="2400" dirty="0" err="1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push</a:t>
            </a:r>
            <a:endParaRPr lang="es-ES" sz="2400" dirty="0"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647D507-DEFA-A09E-BAC8-1045DA63F056}"/>
              </a:ext>
            </a:extLst>
          </p:cNvPr>
          <p:cNvSpPr txBox="1"/>
          <p:nvPr/>
        </p:nvSpPr>
        <p:spPr>
          <a:xfrm>
            <a:off x="633413" y="5422870"/>
            <a:ext cx="6180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 err="1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Governance</a:t>
            </a:r>
            <a:r>
              <a:rPr lang="es-ES" sz="24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 + </a:t>
            </a:r>
            <a:r>
              <a:rPr lang="es-ES" sz="2400" dirty="0" err="1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go</a:t>
            </a:r>
            <a:r>
              <a:rPr lang="es-ES" sz="24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/no-</a:t>
            </a:r>
            <a:r>
              <a:rPr lang="es-ES" sz="2400" dirty="0" err="1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go</a:t>
            </a:r>
            <a:endParaRPr lang="es-ES" sz="2400" dirty="0"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</p:txBody>
      </p:sp>
      <p:sp>
        <p:nvSpPr>
          <p:cNvPr id="24" name="Content Placeholder 9">
            <a:extLst>
              <a:ext uri="{FF2B5EF4-FFF2-40B4-BE49-F238E27FC236}">
                <a16:creationId xmlns:a16="http://schemas.microsoft.com/office/drawing/2014/main" id="{7F93F3A5-A8C4-061A-0E37-E11C643E8B6D}"/>
              </a:ext>
            </a:extLst>
          </p:cNvPr>
          <p:cNvSpPr>
            <a:spLocks noGrp="1"/>
          </p:cNvSpPr>
          <p:nvPr/>
        </p:nvSpPr>
        <p:spPr>
          <a:xfrm>
            <a:off x="487363" y="1060013"/>
            <a:ext cx="2192337" cy="46990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lang="es-ES" dirty="0">
                <a:latin typeface="Sakkal Majalla" panose="02000000000000000000" pitchFamily="2" charset="-78"/>
                <a:cs typeface="Sakkal Majalla" panose="02000000000000000000" pitchFamily="2" charset="-78"/>
              </a:rPr>
              <a:t>Week 1 - 2</a:t>
            </a:r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1DCBB936-F32A-C7FA-A47B-10430495D818}"/>
              </a:ext>
            </a:extLst>
          </p:cNvPr>
          <p:cNvSpPr>
            <a:spLocks noGrp="1"/>
          </p:cNvSpPr>
          <p:nvPr/>
        </p:nvSpPr>
        <p:spPr>
          <a:xfrm>
            <a:off x="2679700" y="1060013"/>
            <a:ext cx="2186781" cy="46990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lang="es-ES" dirty="0">
                <a:latin typeface="Sakkal Majalla" panose="02000000000000000000" pitchFamily="2" charset="-78"/>
                <a:cs typeface="Sakkal Majalla" panose="02000000000000000000" pitchFamily="2" charset="-78"/>
              </a:rPr>
              <a:t>Week 3 - 4</a:t>
            </a:r>
          </a:p>
        </p:txBody>
      </p:sp>
      <p:sp>
        <p:nvSpPr>
          <p:cNvPr id="28" name="Content Placeholder 9">
            <a:extLst>
              <a:ext uri="{FF2B5EF4-FFF2-40B4-BE49-F238E27FC236}">
                <a16:creationId xmlns:a16="http://schemas.microsoft.com/office/drawing/2014/main" id="{940739CD-70EE-176E-1F92-B4F0B877B70A}"/>
              </a:ext>
            </a:extLst>
          </p:cNvPr>
          <p:cNvSpPr>
            <a:spLocks noGrp="1"/>
          </p:cNvSpPr>
          <p:nvPr/>
        </p:nvSpPr>
        <p:spPr>
          <a:xfrm>
            <a:off x="4921250" y="1060013"/>
            <a:ext cx="2137568" cy="46990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lang="es-ES" dirty="0">
                <a:latin typeface="Sakkal Majalla" panose="02000000000000000000" pitchFamily="2" charset="-78"/>
                <a:cs typeface="Sakkal Majalla" panose="02000000000000000000" pitchFamily="2" charset="-78"/>
              </a:rPr>
              <a:t>Week 5 - 8</a:t>
            </a:r>
          </a:p>
        </p:txBody>
      </p:sp>
      <p:sp>
        <p:nvSpPr>
          <p:cNvPr id="30" name="Content Placeholder 9">
            <a:extLst>
              <a:ext uri="{FF2B5EF4-FFF2-40B4-BE49-F238E27FC236}">
                <a16:creationId xmlns:a16="http://schemas.microsoft.com/office/drawing/2014/main" id="{79897216-9C42-67AF-9A78-D03E431B9FD1}"/>
              </a:ext>
            </a:extLst>
          </p:cNvPr>
          <p:cNvSpPr>
            <a:spLocks noGrp="1"/>
          </p:cNvSpPr>
          <p:nvPr/>
        </p:nvSpPr>
        <p:spPr>
          <a:xfrm>
            <a:off x="7058818" y="1060013"/>
            <a:ext cx="2192337" cy="46990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lang="es-ES" dirty="0">
                <a:latin typeface="Sakkal Majalla" panose="02000000000000000000" pitchFamily="2" charset="-78"/>
                <a:cs typeface="Sakkal Majalla" panose="02000000000000000000" pitchFamily="2" charset="-78"/>
              </a:rPr>
              <a:t>Week 9 - 11</a:t>
            </a:r>
          </a:p>
        </p:txBody>
      </p:sp>
      <p:sp>
        <p:nvSpPr>
          <p:cNvPr id="32" name="Content Placeholder 9">
            <a:extLst>
              <a:ext uri="{FF2B5EF4-FFF2-40B4-BE49-F238E27FC236}">
                <a16:creationId xmlns:a16="http://schemas.microsoft.com/office/drawing/2014/main" id="{DAA1A6B8-20A9-2F75-E872-8A75AF744D33}"/>
              </a:ext>
            </a:extLst>
          </p:cNvPr>
          <p:cNvSpPr>
            <a:spLocks noGrp="1"/>
          </p:cNvSpPr>
          <p:nvPr/>
        </p:nvSpPr>
        <p:spPr>
          <a:xfrm>
            <a:off x="9251155" y="1060013"/>
            <a:ext cx="2028177" cy="46990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lang="es-ES" dirty="0">
                <a:latin typeface="Sakkal Majalla" panose="02000000000000000000" pitchFamily="2" charset="-78"/>
                <a:cs typeface="Sakkal Majalla" panose="02000000000000000000" pitchFamily="2" charset="-78"/>
              </a:rPr>
              <a:t>Week 12</a:t>
            </a: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24609" y="6121181"/>
            <a:ext cx="3568700" cy="241240"/>
          </a:xfrm>
        </p:spPr>
        <p:txBody>
          <a:bodyPr/>
          <a:lstStyle/>
          <a:p>
            <a:r>
              <a:rPr sz="11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Illustrative KPI thresholds | Final baselines to be agreed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601CC-90EA-4B7E-D56D-42EF2FCCABE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BA58DA2A-B818-18A9-29C1-B697728D5BCE}" type="slidenum">
              <a:rPr sz="1100">
                <a:latin typeface="Sakkal Majalla" panose="02000000000000000000" pitchFamily="2" charset="-78"/>
                <a:cs typeface="Sakkal Majalla" panose="02000000000000000000" pitchFamily="2" charset="-78"/>
              </a:rPr>
              <a:t>9</a:t>
            </a:fld>
            <a:endParaRPr sz="11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>
            <a:normAutofit/>
          </a:bodyPr>
          <a:lstStyle/>
          <a:p>
            <a:r>
              <a:rPr sz="4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KPIs separate real incrementality from simple distribution gain</a:t>
            </a:r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>
            <a:spLocks noGrp="1"/>
          </p:cNvSpPr>
          <p:nvPr/>
        </p:nvSpPr>
        <p:spPr>
          <a:xfrm>
            <a:off x="6384576" y="3883734"/>
            <a:ext cx="2066698" cy="990600"/>
          </a:xfrm>
          <a:prstGeom prst="rect">
            <a:avLst/>
          </a:prstGeom>
        </p:spPr>
        <p:txBody>
          <a:bodyPr vert="horz" lIns="0" tIns="0" rIns="0" bIns="0" anchor="b">
            <a:normAutofit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000" u="none" cap="none" dirty="0">
                <a:ln>
                  <a:noFill/>
                </a:ln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+10%</a:t>
            </a: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>
            <a:spLocks noGrp="1"/>
          </p:cNvSpPr>
          <p:nvPr/>
        </p:nvSpPr>
        <p:spPr>
          <a:xfrm>
            <a:off x="6393812" y="4985111"/>
            <a:ext cx="2066698" cy="6159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conversion vs baseline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minimum success gate</a:t>
            </a:r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>
            <a:spLocks noGrp="1"/>
          </p:cNvSpPr>
          <p:nvPr/>
        </p:nvSpPr>
        <p:spPr>
          <a:xfrm>
            <a:off x="8709892" y="3883734"/>
            <a:ext cx="2066698" cy="990600"/>
          </a:xfrm>
          <a:prstGeom prst="rect">
            <a:avLst/>
          </a:prstGeom>
        </p:spPr>
        <p:txBody>
          <a:bodyPr vert="horz" lIns="0" tIns="0" rIns="0" bIns="0" anchor="b">
            <a:normAutofit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000" u="none" cap="none" dirty="0">
                <a:ln>
                  <a:noFill/>
                </a:ln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€850</a:t>
            </a: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>
            <a:spLocks noGrp="1"/>
          </p:cNvSpPr>
          <p:nvPr/>
        </p:nvSpPr>
        <p:spPr>
          <a:xfrm>
            <a:off x="8719129" y="4985111"/>
            <a:ext cx="2066698" cy="6159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weekly revenue / facing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minimum success gate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>
            <a:spLocks noGrp="1"/>
          </p:cNvSpPr>
          <p:nvPr/>
        </p:nvSpPr>
        <p:spPr>
          <a:xfrm>
            <a:off x="6610485" y="1723941"/>
            <a:ext cx="4064335" cy="990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Success is not a launch photo. Track weekly sell-out, revenue per facing and basket attachment versus a pre-agreed baseline; scale only if the trend proves conversion</a:t>
            </a:r>
          </a:p>
        </p:txBody>
      </p:sp>
      <p:graphicFrame>
        <p:nvGraphicFramePr>
          <p:cNvPr id="55" name="Chart 2"/>
          <p:cNvGraphicFramePr/>
          <p:nvPr>
            <p:extLst>
              <p:ext uri="{D42A27DB-BD31-4B8C-83A1-F6EECF244321}">
                <p14:modId xmlns:p14="http://schemas.microsoft.com/office/powerpoint/2010/main" val="3390832601"/>
              </p:ext>
            </p:extLst>
          </p:nvPr>
        </p:nvGraphicFramePr>
        <p:xfrm>
          <a:off x="193965" y="1254715"/>
          <a:ext cx="5781962" cy="5118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76809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rPr sz="1100">
                <a:latin typeface="Sakkal Majalla" panose="02000000000000000000" pitchFamily="2" charset="-78"/>
                <a:cs typeface="Sakkal Majalla" panose="02000000000000000000" pitchFamily="2" charset="-78"/>
              </a:rPr>
              <a:t>Illustrative commercial proposal | Fictional terms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388657AE-30A1-5A7A-6A7F-315D84436430}" type="slidenum">
              <a:rPr sz="1100">
                <a:latin typeface="Sakkal Majalla" panose="02000000000000000000" pitchFamily="2" charset="-78"/>
                <a:cs typeface="Sakkal Majalla" panose="02000000000000000000" pitchFamily="2" charset="-78"/>
              </a:rPr>
              <a:t>10</a:t>
            </a:fld>
            <a:endParaRPr sz="11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488"/>
            <a:ext cx="11404600" cy="644297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rPr sz="4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The proposal is a low-risk test with shared accountability</a:t>
            </a: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noGrp="1"/>
          </p:cNvSpPr>
          <p:nvPr/>
        </p:nvSpPr>
        <p:spPr>
          <a:xfrm>
            <a:off x="694248" y="3421908"/>
            <a:ext cx="4986886" cy="87778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AURA commitment</a:t>
            </a:r>
            <a:endParaRPr lang="es-ES" b="1" dirty="0">
              <a:solidFill>
                <a:prstClr val="black"/>
              </a:solidFill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endParaRPr sz="2000" dirty="0">
              <a:solidFill>
                <a:prstClr val="black"/>
              </a:solidFill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Fund launch POS, staff briefing content and the travel-exclusive sleeve to reduce execution risk</a:t>
            </a:r>
            <a:r>
              <a:rPr lang="es-ES"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:</a:t>
            </a:r>
            <a:endParaRPr sz="2000" dirty="0">
              <a:solidFill>
                <a:prstClr val="black"/>
              </a:solidFill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noGrp="1"/>
          </p:cNvSpPr>
          <p:nvPr/>
        </p:nvSpPr>
        <p:spPr>
          <a:xfrm>
            <a:off x="775854" y="4847054"/>
            <a:ext cx="4839855" cy="9779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Sakkal Majalla" panose="02000000000000000000" pitchFamily="2" charset="-78"/>
              <a:buChar char="−"/>
            </a:pPr>
            <a:r>
              <a:rPr sz="18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3-airport pilot</a:t>
            </a:r>
          </a:p>
          <a:p>
            <a:pPr marL="285750" indent="-28575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Sakkal Majalla" panose="02000000000000000000" pitchFamily="2" charset="-78"/>
              <a:buChar char="−"/>
            </a:pPr>
            <a:r>
              <a:rPr sz="18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Launch funding and POS kit</a:t>
            </a:r>
          </a:p>
          <a:p>
            <a:pPr marL="285750" indent="-28575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Sakkal Majalla" panose="02000000000000000000" pitchFamily="2" charset="-78"/>
              <a:buChar char="−"/>
            </a:pPr>
            <a:r>
              <a:rPr sz="18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Weekly joint review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noGrp="1"/>
          </p:cNvSpPr>
          <p:nvPr/>
        </p:nvSpPr>
        <p:spPr>
          <a:xfrm>
            <a:off x="6292446" y="3403436"/>
            <a:ext cx="4200063" cy="87778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b="1" dirty="0" err="1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EuroGate</a:t>
            </a:r>
            <a:r>
              <a:rPr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 commitment</a:t>
            </a:r>
            <a:endParaRPr lang="es-ES" b="1" dirty="0">
              <a:solidFill>
                <a:prstClr val="black"/>
              </a:solidFill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endParaRPr sz="2000" dirty="0">
              <a:solidFill>
                <a:prstClr val="black"/>
              </a:solidFill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Provide chilled visibility, agreed facings and weekly sell-out data so the readout is decision-grade</a:t>
            </a:r>
            <a:r>
              <a:rPr lang="es-ES" sz="20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:</a:t>
            </a:r>
            <a:endParaRPr sz="2000" dirty="0">
              <a:solidFill>
                <a:prstClr val="black"/>
              </a:solidFill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noGrp="1"/>
          </p:cNvSpPr>
          <p:nvPr/>
        </p:nvSpPr>
        <p:spPr>
          <a:xfrm>
            <a:off x="6302164" y="4847054"/>
            <a:ext cx="4310418" cy="9779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Sakkal Majalla" panose="02000000000000000000" pitchFamily="2" charset="-78"/>
              <a:buChar char="−"/>
            </a:pPr>
            <a:r>
              <a:rPr sz="18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Chilled secondary space</a:t>
            </a:r>
          </a:p>
          <a:p>
            <a:pPr marL="285750" indent="-28575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Sakkal Majalla" panose="02000000000000000000" pitchFamily="2" charset="-78"/>
              <a:buChar char="−"/>
            </a:pPr>
            <a:r>
              <a:rPr sz="18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4-SKU listing plus 4-pack</a:t>
            </a:r>
          </a:p>
          <a:p>
            <a:pPr marL="285750" indent="-28575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Sakkal Majalla" panose="02000000000000000000" pitchFamily="2" charset="-78"/>
              <a:buChar char="−"/>
            </a:pPr>
            <a:r>
              <a:rPr sz="18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Data share by SKU and airport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noGrp="1"/>
          </p:cNvSpPr>
          <p:nvPr/>
        </p:nvSpPr>
        <p:spPr>
          <a:xfrm>
            <a:off x="413676" y="1279454"/>
            <a:ext cx="10534916" cy="162922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COMMERCIAL PROPOSAL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Approve a controlled summer pilot, not a full rollout. </a:t>
            </a:r>
            <a:br>
              <a:rPr lang="es-ES" sz="24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</a:br>
            <a:r>
              <a:rPr sz="24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AURA carries launch support and </a:t>
            </a:r>
            <a:r>
              <a:rPr sz="2400" dirty="0" err="1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EuroGate</a:t>
            </a:r>
            <a:r>
              <a:rPr sz="24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 provides the operating conditions needed to prove whether the range is genuinely incremental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rPr sz="1100">
                <a:latin typeface="Sakkal Majalla" panose="02000000000000000000" pitchFamily="2" charset="-78"/>
                <a:cs typeface="Sakkal Majalla" panose="02000000000000000000" pitchFamily="2" charset="-78"/>
              </a:rPr>
              <a:t>Next step: joint pilot workshop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DB7BEEEC-A170-5376-2B6E-CB54687B0CB1}" type="slidenum">
              <a:rPr sz="1100">
                <a:latin typeface="Sakkal Majalla" panose="02000000000000000000" pitchFamily="2" charset="-78"/>
                <a:cs typeface="Sakkal Majalla" panose="02000000000000000000" pitchFamily="2" charset="-78"/>
              </a:rPr>
              <a:t>11</a:t>
            </a:fld>
            <a:endParaRPr sz="11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rPr sz="4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Approve the pilot and lock the measurement plan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35707" y="1722438"/>
            <a:ext cx="5726545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3200" b="1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Decision ask: approve a 12-week test, then scale only if the economics are proven</a:t>
            </a: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noGrp="1"/>
          </p:cNvSpPr>
          <p:nvPr/>
        </p:nvSpPr>
        <p:spPr>
          <a:xfrm>
            <a:off x="6727314" y="1783375"/>
            <a:ext cx="3911600" cy="54875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22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Confirm airports and fixture locations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noGrp="1"/>
          </p:cNvSpPr>
          <p:nvPr/>
        </p:nvSpPr>
        <p:spPr>
          <a:xfrm>
            <a:off x="618832" y="2981080"/>
            <a:ext cx="5422900" cy="30496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400" b="0" i="0" u="none" cap="none" dirty="0">
                <a:ln>
                  <a:noFill/>
                </a:ln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AURA gives </a:t>
            </a:r>
            <a:r>
              <a:rPr sz="2400" b="0" i="0" u="none" cap="none" dirty="0" err="1">
                <a:ln>
                  <a:noFill/>
                </a:ln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EuroGate</a:t>
            </a:r>
            <a:r>
              <a:rPr sz="2400" b="0" i="0" u="none" cap="none" dirty="0">
                <a:ln>
                  <a:noFill/>
                </a:ln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 a premium RTD test with clear shopper logic, a narrow operational footprint and measurable economics</a:t>
            </a:r>
            <a:r>
              <a:rPr lang="es-ES" sz="24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.</a:t>
            </a:r>
            <a:endParaRPr lang="es-ES" sz="2400" b="0" i="0" u="none" cap="none" dirty="0">
              <a:ln>
                <a:noFill/>
              </a:ln>
              <a:solidFill>
                <a:prstClr val="black"/>
              </a:solidFill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400" b="0" i="0" u="none" cap="none" dirty="0">
                <a:ln>
                  <a:noFill/>
                </a:ln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The decision is not whether to roll out permanently today; it is whether to create a disciplined pilot that can prove incremental conversion, revenue per facing and basket attachment.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noGrp="1"/>
          </p:cNvSpPr>
          <p:nvPr/>
        </p:nvSpPr>
        <p:spPr>
          <a:xfrm>
            <a:off x="6727314" y="2643235"/>
            <a:ext cx="3911600" cy="54875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22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Freeze SKU list and price corridor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noGrp="1"/>
          </p:cNvSpPr>
          <p:nvPr/>
        </p:nvSpPr>
        <p:spPr>
          <a:xfrm>
            <a:off x="6727314" y="3394189"/>
            <a:ext cx="3911600" cy="54875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sz="22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Approve data-sharing and KPI dashboard</a:t>
            </a:r>
            <a:endParaRPr sz="2200" dirty="0">
              <a:solidFill>
                <a:prstClr val="black"/>
              </a:solidFill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noGrp="1"/>
          </p:cNvSpPr>
          <p:nvPr/>
        </p:nvSpPr>
        <p:spPr>
          <a:xfrm>
            <a:off x="6727314" y="4169346"/>
            <a:ext cx="3911600" cy="54875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22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Brief store teams and install POS</a:t>
            </a:r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noGrp="1"/>
          </p:cNvSpPr>
          <p:nvPr/>
        </p:nvSpPr>
        <p:spPr>
          <a:xfrm>
            <a:off x="6727314" y="4964752"/>
            <a:ext cx="3911600" cy="54875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2200" dirty="0">
                <a:solidFill>
                  <a:prstClr val="black"/>
                </a:solidFill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Run week-12 scale / stop decision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9DCA080C-F526-0D89-0198-024BEBE67F2F}"/>
              </a:ext>
            </a:extLst>
          </p:cNvPr>
          <p:cNvSpPr>
            <a:spLocks noGrp="1"/>
          </p:cNvSpPr>
          <p:nvPr/>
        </p:nvSpPr>
        <p:spPr>
          <a:xfrm>
            <a:off x="6727314" y="1173792"/>
            <a:ext cx="3432686" cy="54875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s-ES" sz="1800" dirty="0">
                <a:latin typeface="Sakkal Majalla" panose="02000000000000000000" pitchFamily="2" charset="-78"/>
                <a:ea typeface="Helvetica Neue"/>
                <a:cs typeface="Sakkal Majalla" panose="02000000000000000000" pitchFamily="2" charset="-78"/>
              </a:rPr>
              <a:t>TO CONFIRM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5777CA1-6F9E-50E8-5E0A-5ECCB9EA28C1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8574A810-7A8E-054F-9F6B-09E9C694ECF9}" type="slidenum">
              <a:rPr lang="es-ES" smtClean="0"/>
              <a:t>12</a:t>
            </a:fld>
            <a:endParaRPr lang="es-ES"/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D90220EC-9B67-23F6-BFED-7BBB559D43FD}"/>
              </a:ext>
            </a:extLst>
          </p:cNvPr>
          <p:cNvSpPr>
            <a:spLocks noGrp="1"/>
          </p:cNvSpPr>
          <p:nvPr/>
        </p:nvSpPr>
        <p:spPr>
          <a:xfrm>
            <a:off x="609600" y="2614385"/>
            <a:ext cx="9873673" cy="1629229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8800" b="1" dirty="0">
                <a:solidFill>
                  <a:prstClr val="black"/>
                </a:solidFill>
                <a:latin typeface="Sakkal Majalla" panose="02000000000000000000" pitchFamily="2" charset="-78"/>
                <a:ea typeface="Helvetica Neue Medium"/>
                <a:cs typeface="Sakkal Majalla" panose="02000000000000000000" pitchFamily="2" charset="-78"/>
              </a:rPr>
              <a:t>THANK YOU</a:t>
            </a:r>
            <a:endParaRPr sz="8800" dirty="0">
              <a:solidFill>
                <a:prstClr val="black"/>
              </a:solidFill>
              <a:latin typeface="Sakkal Majalla" panose="02000000000000000000" pitchFamily="2" charset="-78"/>
              <a:ea typeface="Helvetica Neue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6407730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1475</Words>
  <Application>Microsoft Office PowerPoint</Application>
  <DocSecurity>0</DocSecurity>
  <PresentationFormat>Panorámica</PresentationFormat>
  <Paragraphs>157</Paragraphs>
  <Slides>12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Sakkal Majalla</vt:lpstr>
      <vt:lpstr>Helvetica Neue</vt:lpstr>
      <vt:lpstr>Default Codex Theme</vt:lpstr>
      <vt:lpstr>Presentación de PowerPoint</vt:lpstr>
      <vt:lpstr>A premium RTD occasion for airport retail</vt:lpstr>
      <vt:lpstr>The opening is real, but conversion will not happen by shelf space alone</vt:lpstr>
      <vt:lpstr>AURA makes premium RTD simple enough to convert</vt:lpstr>
      <vt:lpstr>The pilot range balances conversion, gifting and operational simplicity</vt:lpstr>
      <vt:lpstr>Price packs create a clear ladder from trial to basket build</vt:lpstr>
      <vt:lpstr>Economics work only if the pilot proves incremental sales</vt:lpstr>
      <vt:lpstr>Activation plan turns shelf space into a measured 12-week test</vt:lpstr>
      <vt:lpstr>KPIs separate real incrementality from simple distribution gain</vt:lpstr>
      <vt:lpstr>The proposal is a low-risk test with shared accountability</vt:lpstr>
      <vt:lpstr>Approve the pilot and lock the measurement plan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Office</cp:lastModifiedBy>
  <cp:revision>3</cp:revision>
  <dcterms:created xsi:type="dcterms:W3CDTF">2026-07-17T08:07:54Z</dcterms:created>
  <dcterms:modified xsi:type="dcterms:W3CDTF">2026-07-17T10:46:36Z</dcterms:modified>
</cp:coreProperties>
</file>