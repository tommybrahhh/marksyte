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3380d0bd44dfa" /><Relationship Type="http://schemas.openxmlformats.org/officeDocument/2006/relationships/extended-properties" Target="/docProps/app.xml" Id="Rd067f6c2377044d1" /><Relationship Type="http://schemas.openxmlformats.org/officeDocument/2006/relationships/officeDocument" Target="/ppt/presentation.xml" Id="Rd53b8837e28c44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70134f9a374b90"/>
  </p:sldMasterIdLst>
  <p:notesMasterIdLst>
    <p:notesMasterId xmlns:r="http://schemas.openxmlformats.org/officeDocument/2006/relationships" r:id="Re51b4d4e91bc4a57"/>
  </p:notesMasterIdLst>
  <p:sldIdLst>
    <p:sldId xmlns:r="http://schemas.openxmlformats.org/officeDocument/2006/relationships" id="256" r:id="R0794087f159d477d"/>
    <p:sldId xmlns:r="http://schemas.openxmlformats.org/officeDocument/2006/relationships" id="257" r:id="R35c7229a3fa449e0"/>
    <p:sldId xmlns:r="http://schemas.openxmlformats.org/officeDocument/2006/relationships" id="258" r:id="Rbaeaa7f4f79c4577"/>
    <p:sldId xmlns:r="http://schemas.openxmlformats.org/officeDocument/2006/relationships" id="259" r:id="R3deeecad25db4051"/>
    <p:sldId xmlns:r="http://schemas.openxmlformats.org/officeDocument/2006/relationships" id="260" r:id="Rce18511a9743402f"/>
    <p:sldId xmlns:r="http://schemas.openxmlformats.org/officeDocument/2006/relationships" id="261" r:id="R4b4b538de0bd4716"/>
    <p:sldId xmlns:r="http://schemas.openxmlformats.org/officeDocument/2006/relationships" id="262" r:id="R28e21f44677542ae"/>
    <p:sldId xmlns:r="http://schemas.openxmlformats.org/officeDocument/2006/relationships" id="263" r:id="R79595b990fb44977"/>
    <p:sldId xmlns:r="http://schemas.openxmlformats.org/officeDocument/2006/relationships" id="264" r:id="R5696985e98604f87"/>
    <p:sldId xmlns:r="http://schemas.openxmlformats.org/officeDocument/2006/relationships" id="265" r:id="R45e7ecb924594d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57d00083dc43d3" /><Relationship Type="http://schemas.openxmlformats.org/officeDocument/2006/relationships/slideMaster" Target="/ppt/slideMasters/slideMaster1.xml" Id="R7870134f9a374b90" /><Relationship Type="http://schemas.openxmlformats.org/officeDocument/2006/relationships/notesMaster" Target="/ppt/notesMasters/notesMaster1.xml" Id="Re51b4d4e91bc4a57" /><Relationship Type="http://schemas.openxmlformats.org/officeDocument/2006/relationships/presProps" Target="/ppt/presProps.xml" Id="R74ed86e2b5cf472f" /><Relationship Type="http://schemas.openxmlformats.org/officeDocument/2006/relationships/tableStyles" Target="/ppt/tableStyles.xml" Id="R6dca3f4a33ea4f41" /><Relationship Type="http://schemas.openxmlformats.org/officeDocument/2006/relationships/slide" Target="/ppt/slides/slide1.xml" Id="R0794087f159d477d" /><Relationship Type="http://schemas.openxmlformats.org/officeDocument/2006/relationships/slide" Target="/ppt/slides/slide2.xml" Id="R35c7229a3fa449e0" /><Relationship Type="http://schemas.openxmlformats.org/officeDocument/2006/relationships/slide" Target="/ppt/slides/slide3.xml" Id="Rbaeaa7f4f79c4577" /><Relationship Type="http://schemas.openxmlformats.org/officeDocument/2006/relationships/slide" Target="/ppt/slides/slide4.xml" Id="R3deeecad25db4051" /><Relationship Type="http://schemas.openxmlformats.org/officeDocument/2006/relationships/slide" Target="/ppt/slides/slide5.xml" Id="Rce18511a9743402f" /><Relationship Type="http://schemas.openxmlformats.org/officeDocument/2006/relationships/slide" Target="/ppt/slides/slide6.xml" Id="R4b4b538de0bd4716" /><Relationship Type="http://schemas.openxmlformats.org/officeDocument/2006/relationships/slide" Target="/ppt/slides/slide7.xml" Id="R28e21f44677542ae" /><Relationship Type="http://schemas.openxmlformats.org/officeDocument/2006/relationships/slide" Target="/ppt/slides/slide8.xml" Id="R79595b990fb44977" /><Relationship Type="http://schemas.openxmlformats.org/officeDocument/2006/relationships/slide" Target="/ppt/slides/slide9.xml" Id="R5696985e98604f87" /><Relationship Type="http://schemas.openxmlformats.org/officeDocument/2006/relationships/slide" Target="/ppt/slides/slide10.xml" Id="R45e7ecb924594d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6c34b7defc4c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bdf7bed2814255" /><Relationship Type="http://schemas.openxmlformats.org/officeDocument/2006/relationships/notesMaster" Target="/ppt/notesMasters/notesMaster1.xml" Id="Rad493351e2a549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395158821f4a2e" /><Relationship Type="http://schemas.openxmlformats.org/officeDocument/2006/relationships/notesMaster" Target="/ppt/notesMasters/notesMaster1.xml" Id="Rd0541099878747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2aaa3542d245bc" /><Relationship Type="http://schemas.openxmlformats.org/officeDocument/2006/relationships/notesMaster" Target="/ppt/notesMasters/notesMaster1.xml" Id="R14a9f395fa554c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207e26129d4025" /><Relationship Type="http://schemas.openxmlformats.org/officeDocument/2006/relationships/notesMaster" Target="/ppt/notesMasters/notesMaster1.xml" Id="Re40f04c75efc4d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9e941a99c64a8e" /><Relationship Type="http://schemas.openxmlformats.org/officeDocument/2006/relationships/notesMaster" Target="/ppt/notesMasters/notesMaster1.xml" Id="R2a507e3d79bb41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4c14c6058f48ae" /><Relationship Type="http://schemas.openxmlformats.org/officeDocument/2006/relationships/notesMaster" Target="/ppt/notesMasters/notesMaster1.xml" Id="R78d4a74e54ee4e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352ac130a84bdf" /><Relationship Type="http://schemas.openxmlformats.org/officeDocument/2006/relationships/notesMaster" Target="/ppt/notesMasters/notesMaster1.xml" Id="Ra03f3cd5702341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09fe7859b445c9" /><Relationship Type="http://schemas.openxmlformats.org/officeDocument/2006/relationships/notesMaster" Target="/ppt/notesMasters/notesMaster1.xml" Id="Rf6258739a7a542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eafbb2b02d45b8" /><Relationship Type="http://schemas.openxmlformats.org/officeDocument/2006/relationships/notesMaster" Target="/ppt/notesMasters/notesMaster1.xml" Id="R88355f1aff244d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c0988df9b14111" /><Relationship Type="http://schemas.openxmlformats.org/officeDocument/2006/relationships/notesMaster" Target="/ppt/notesMasters/notesMaster1.xml" Id="R68dd12af131243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role objective: translating global strategy into practical programs that grow practices, patient demand, and case volume.</a:t>
            </a:r>
          </a:p>
          <a:p xmlns:a="http://schemas.openxmlformats.org/drawingml/2006/main">
            <a:r>
              <a:t>Position the case as a commercial growth operating model, not a creative campaign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Reference the official ClearCorrect marketing resources and doctor ecosystem as existing strengths.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strategic point: the business case does not ask ClearCorrect to start from zero; it organizes and scales what already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that demand alone is not enough. If the practice cannot follow up and convert, marketing spend does not become case growth.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slide shows commercial judgment: solve the full funnel, not one isolated campaign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the logic of the program: patient marketing, sales enablement, and clinical education have to operate together.</a:t>
            </a:r>
          </a:p>
          <a:p xmlns:a="http://schemas.openxmlformats.org/drawingml/2006/main">
            <a:r>
              <a:t>Make clear that each lever has a behavior change attached to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core recommendation: a modular program, not a one-off campaign.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Emphasize global core and local flex: the program has standard logic, but markets adapt language, channels, and legal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that segmentation prevents a generic toolkit from being pushed to every practice.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slide is also your sales enablement slide: it clarifies what sales, clinical education, and marketing each 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Be crisp here: the pilot is designed to learn before scaling globally.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Mention that control groups or matched non-participating practices help avoid overclaiming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Spain as a practical example but say the framework can be swapped for any priority market.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slide should prove you can translate a global program into local execution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KPI targets as assumptions to validate, not promises.</a:t>
            </a:r>
          </a:p>
          <a:p xmlns:a="http://schemas.openxmlformats.org/drawingml/2006/main">
            <a:r>
              <a:t>Use formula-based ROI: incremental cases x net revenue per case minus program cost, divided by program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Insert your personal proof points here: one campaign example, one sales enablement example, and one optimization example.</a:t>
            </a:r>
          </a:p>
          <a:p xmlns:a="http://schemas.openxmlformats.org/drawingml/2006/main">
            <a:r>
              <a:t>Close by connecting your experience to the exact role: strategy translated into scalable market programs and measurable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fcdcfd0ef43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b40138c664b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66e7f99fe4e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4b8a5109548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adc4e68b34e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2d845c3d944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daa963fa04d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c5190a9fa4e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a31441dee4717" /><Relationship Type="http://schemas.openxmlformats.org/officeDocument/2006/relationships/image" Target="/ppt/media/image.png" Id="R1b658bce4cfe4c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0d913e1ba4cd6" /><Relationship Type="http://schemas.openxmlformats.org/officeDocument/2006/relationships/image" Target="/ppt/media/image2.png" Id="R602ba4ef654340d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1b658bce4cfe4c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602ba4ef654340d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f72dc594e946ae" /><Relationship Type="http://schemas.openxmlformats.org/officeDocument/2006/relationships/slideLayout" Target="/ppt/slideLayouts/slideLayout1.xml" Id="Rcd77bafbde7646f8" /><Relationship Type="http://schemas.openxmlformats.org/officeDocument/2006/relationships/slideLayout" Target="/ppt/slideLayouts/slideLayout2.xml" Id="R530ce59016f64ded" /><Relationship Type="http://schemas.openxmlformats.org/officeDocument/2006/relationships/slideLayout" Target="/ppt/slideLayouts/slideLayout3.xml" Id="Rd9487875ff584c42" /><Relationship Type="http://schemas.openxmlformats.org/officeDocument/2006/relationships/slideLayout" Target="/ppt/slideLayouts/slideLayout4.xml" Id="Rbc25ca24ec014658" /><Relationship Type="http://schemas.openxmlformats.org/officeDocument/2006/relationships/slideLayout" Target="/ppt/slideLayouts/slideLayout5.xml" Id="R006577ea68c146f3" /><Relationship Type="http://schemas.openxmlformats.org/officeDocument/2006/relationships/slideLayout" Target="/ppt/slideLayouts/slideLayout6.xml" Id="R0223d090c2d1493b" /><Relationship Type="http://schemas.openxmlformats.org/officeDocument/2006/relationships/slideLayout" Target="/ppt/slideLayouts/slideLayout7.xml" Id="Rf180e475468d4898" /><Relationship Type="http://schemas.openxmlformats.org/officeDocument/2006/relationships/slideLayout" Target="/ppt/slideLayouts/slideLayout8.xml" Id="R241d570aefde40fd" /><Relationship Type="http://schemas.openxmlformats.org/officeDocument/2006/relationships/slideLayout" Target="/ppt/slideLayouts/slideLayout9.xml" Id="R00b3587d9d8147ff" /><Relationship Type="http://schemas.openxmlformats.org/officeDocument/2006/relationships/slideLayout" Target="/ppt/slideLayouts/slideLayout10.xml" Id="R1a6db1a2837c44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7bafbde7646f8"/>
    <p:sldLayoutId xmlns:r="http://schemas.openxmlformats.org/officeDocument/2006/relationships" id="2147483650" r:id="R530ce59016f64ded"/>
    <p:sldLayoutId xmlns:r="http://schemas.openxmlformats.org/officeDocument/2006/relationships" id="2147483651" r:id="Rd9487875ff584c42"/>
    <p:sldLayoutId xmlns:r="http://schemas.openxmlformats.org/officeDocument/2006/relationships" id="2147483652" r:id="Rbc25ca24ec014658"/>
    <p:sldLayoutId xmlns:r="http://schemas.openxmlformats.org/officeDocument/2006/relationships" id="2147483653" r:id="R006577ea68c146f3"/>
    <p:sldLayoutId xmlns:r="http://schemas.openxmlformats.org/officeDocument/2006/relationships" id="2147483654" r:id="R0223d090c2d1493b"/>
    <p:sldLayoutId xmlns:r="http://schemas.openxmlformats.org/officeDocument/2006/relationships" id="2147483655" r:id="Rf180e475468d4898"/>
    <p:sldLayoutId xmlns:r="http://schemas.openxmlformats.org/officeDocument/2006/relationships" id="2147483656" r:id="R241d570aefde40fd"/>
    <p:sldLayoutId xmlns:r="http://schemas.openxmlformats.org/officeDocument/2006/relationships" id="2147483657" r:id="R00b3587d9d8147ff"/>
    <p:sldLayoutId xmlns:r="http://schemas.openxmlformats.org/officeDocument/2006/relationships" id="2147483658" r:id="R1a6db1a2837c440f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9023b1b6f44ed" /><Relationship Type="http://schemas.openxmlformats.org/officeDocument/2006/relationships/notesSlide" Target="/ppt/notesSlides/notesSlide1.xml" Id="R5a9241e90f6e41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a04ee06394a04" /><Relationship Type="http://schemas.openxmlformats.org/officeDocument/2006/relationships/notesSlide" Target="/ppt/notesSlides/notesSlide2.xml" Id="Re7fe2c3f1fd74e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8338df2bee4834" /><Relationship Type="http://schemas.openxmlformats.org/officeDocument/2006/relationships/notesSlide" Target="/ppt/notesSlides/notesSlide3.xml" Id="R93a0f3b54ff244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507e0ec714b4f" /><Relationship Type="http://schemas.openxmlformats.org/officeDocument/2006/relationships/notesSlide" Target="/ppt/notesSlides/notesSlide4.xml" Id="R252b47ea118343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4e1422da17f4664" /><Relationship Type="http://schemas.openxmlformats.org/officeDocument/2006/relationships/notesSlide" Target="/ppt/notesSlides/notesSlide5.xml" Id="Re9d4ba935fec41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9e5bf1c254f46" /><Relationship Type="http://schemas.openxmlformats.org/officeDocument/2006/relationships/notesSlide" Target="/ppt/notesSlides/notesSlide6.xml" Id="R0d6a3b42833741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e0a2b95657d40f5" /><Relationship Type="http://schemas.openxmlformats.org/officeDocument/2006/relationships/notesSlide" Target="/ppt/notesSlides/notesSlide7.xml" Id="R948905b9cf7f47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0b924665b04ccd" /><Relationship Type="http://schemas.openxmlformats.org/officeDocument/2006/relationships/notesSlide" Target="/ppt/notesSlides/notesSlide8.xml" Id="Re9c284528c414d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06398990c44f5" /><Relationship Type="http://schemas.openxmlformats.org/officeDocument/2006/relationships/chart" Target="/ppt/slides/charts/chart1.xml" Id="R0e344e40d1614a3a" /><Relationship Type="http://schemas.openxmlformats.org/officeDocument/2006/relationships/notesSlide" Target="/ppt/notesSlides/notesSlide9.xml" Id="Rc80e3e0a8b8949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177098f704c71" /><Relationship Type="http://schemas.openxmlformats.org/officeDocument/2006/relationships/notesSlide" Target="/ppt/notesSlides/notesSlide10.xml" Id="Rfec53b89026b4cb7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Pilot uplift illustration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108</c:v>
                </c:pt>
                <c:pt idx="2">
                  <c:v>112</c:v>
                </c:pt>
                <c:pt idx="3">
                  <c:v>120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112</c:v>
                </c:pt>
                <c:pt idx="2">
                  <c:v>118</c:v>
                </c:pt>
                <c:pt idx="3">
                  <c:v>125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Baseline to scale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30"/>
          <c:min val="90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Practice Growth</a:t>
            </a:r>
          </a:p>
          <a:p xmlns:a="http://schemas.openxmlformats.org/drawingml/2006/main">
            <a:r>
              <a:rPr sz="7200"/>
              <a:t>Accelerator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Global-to-local pilot model for patient demand, conversion, and utilization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ClearCorrect business case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Head of Growth discussion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The opportunity is to turn strong assets into measurable practice-level growth.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What ClearCorrect already has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Provider marketing resources, digital workflow tools, clinical education, and Straumann Group credibility.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What the program adds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repeatable full-funnel system: diagnose, activate, convert, enable, measure, and scale.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Where growth leaks today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Patient interest may exist, but practices can lose momentum through slow follow-up, weak consult flow, low staff confidence, or limited provider utilization.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What good looks like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connected practice funnel: demand generation, lead nurturing, consultation conversion, case start, repeat utilization, and referral.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growth levers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1. Patient demand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Campaigns, referral prompts, local content, in-practice activation, and ClearCorrect Day.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2. Conversion discipline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Fast lead follow-up, consult scripts, patient education, objection handling, and post-consult nurture.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322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3. Provider utilization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Segmentation, case confidence, CE support, sales coaching, and repeat-use tracking.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D71EE4F-3D11-F21C-BED3-0D2E53F4B0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Diagnostic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Practice Growth Scorecard: baseline cases, leads, consults, conversion, follow-up speed, staff readiness, and clinical confidence.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F221F66B-D015-87EF-5CC9-6CCAD265C3D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Activation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Demand toolkit, ClearCorrect Day, social and local templates, patient materials, and consultation conversion support.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DB3804-DAA5-3AD0-2DBB-2B2393C3E769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Optimization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Sales and CE enablement, dashboard reviews, market feedback, and playbook refinement before scale.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Program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Segment practices and match the playbook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9762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First cases, case selection, patient conversation scripts, onboarding, and confidence-building CE.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New providers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510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Demand generation, ClearCorrect Day, lead follow-up, consultation conversion, and monthly business reviews.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Growth providers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510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Standardized workflows, central-local campaign kits, staff training, reporting, and playbook governance.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DSO / multi-site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314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Identify potential, run the diagnostic, coach the 90-day plan, and track adoption.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Sales role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067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Build clinical confidence and help convert demand into successful treatment starts.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CE role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147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Own assets, campaigns, funnel standards, and global measurement logic.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Marketing role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D71EE4F-3D11-F21C-BED3-0D2E53F4B0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Weeks 0-2: baseline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Select 45-60 practices across 3 markets, capture case history, diagnose funnel gaps, and align sales plus CE owners.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F221F66B-D015-87EF-5CC9-6CCAD265C3D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Weeks 3-8: activate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Launch demand campaigns, ClearCorrect Day, conversion scripts, staff training, and weekly funnel reviews.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DB3804-DAA5-3AD0-2DBB-2B2393C3E769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Weeks 9-12: prove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baseline and matched controls where possible, quantify uplift, capture learnings, and package scale playbooks.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12-week pilot design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Local execution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20 practices across major city clusters. Spanish patient content, social templates, local SEO checklist, ClearCorrect Day, and in-clinic conversion materials.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Local conversion focus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Fast follow-up, WhatsApp-compatible nurture where consent allows, front-desk scripts, financing/value framing, and CE-supported case confidence.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Local pilot example: Spain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58DB759-9AE5-E6B9-B76C-E329FE24620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613FBFDF-16BF-0D53-2A1B-04B010762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KPIs and ROI logic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AE798CC-FC9E-8FD6-B40A-60BD9A43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4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10-15%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CB39FDF-C879-3F75-4B5B-F3AB960C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392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Case growth assumption vs. baseline or control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38DC2B0-2494-42A8-504F-21F6B5C2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979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15-20%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2C5D82D2-ECA3-145C-27B1-5F3350F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97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Consult-to-start improvement where tracking exists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A1700D6-925B-7147-7F15-10B86FF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C43755-957A-12EE-615F-F99E996A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9788EE4-D0CC-A10B-FC9E-1FB3B83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A94CC6B8-25E6-8162-65F2-80B98D57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709230"/>
            <a:ext cx="5292194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2345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Measure four layers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Adoption: practices enrolled, diagnostics completed, toolkit usage.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Demand: leads, consults booked, event registrations.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Conversion: lead-to-consult, attendance, consult-to-start.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Business: incremental cases, active provider utilization, ROI proxy.</a:t>
            </a:r>
          </a:p>
        </p:txBody>
      </p:sp>
      <p:graphicFrame>
        <p:nvGraphicFramePr>
          <p:cNvPr id="54" name="Chart 6"/>
          <p:cNvGraphicFramePr/>
          <p:nvPr/>
        </p:nvGraphicFramePr>
        <p:xfrm>
          <a:off xmlns:a="http://schemas.openxmlformats.org/drawingml/2006/main" x="638705" y="1254716"/>
          <a:ext xmlns:a="http://schemas.openxmlformats.org/drawingml/2006/main" cx="5124182" cy="5024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344e40d1614a3a"/>
          </a:graphicData>
        </a:graphic>
      </p:graphicFrame>
    </p:spTree>
    <p:extLst>
      <p:ext uri="{BB962C8B-B14F-4D97-AF65-F5344CB8AC3E}">
        <p14:creationId xmlns:p14="http://schemas.microsoft.com/office/powerpoint/2010/main" val="4318424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I can lead this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57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Campaigns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Demand generation, audience logic, channel mix, lead quality, and measurable pipeline.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Sales enablement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Turning strategy into tools, scripts, playbooks, training, and field adoption.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Using funnel data, feedback, and test-and-learn loops to improve conversion.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4935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Aligning marketing, sales, CE, digital, and local markets around one growth rhythm.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Close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goal is not only more assets. The goal is more activated practices, stronger conversion, and measurable ClearCorrect case growth.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2026-06-23T15:13:45.3180000Z</dcterms:created>
  <dcterms:modified xsi:type="dcterms:W3CDTF">2026-06-23T15:13:45.3180000Z</dcterms:modified>
</coreProperties>
</file>